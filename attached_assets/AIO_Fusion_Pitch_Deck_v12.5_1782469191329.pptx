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9" r:id="rId9"/>
    <p:sldId id="270" r:id="rId10"/>
    <p:sldId id="271" r:id="rId11"/>
    <p:sldId id="272" r:id="rId12"/>
    <p:sldId id="273"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0307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hyperlink" Target="http://www.linkedin.com/in/natalie-linder-0117ba9a" TargetMode="External"/><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microsoft.com/office/2007/relationships/hdphoto" Target="../media/hdphoto1.wdp"/><Relationship Id="rId11" Type="http://schemas.openxmlformats.org/officeDocument/2006/relationships/hyperlink" Target="http://www.linkedin.com/in/ukpatrickbarrett" TargetMode="External"/><Relationship Id="rId5" Type="http://schemas.openxmlformats.org/officeDocument/2006/relationships/image" Target="../media/image4.png"/><Relationship Id="rId10" Type="http://schemas.microsoft.com/office/2007/relationships/hdphoto" Target="../media/hdphoto3.wdp"/><Relationship Id="rId4" Type="http://schemas.openxmlformats.org/officeDocument/2006/relationships/image" Target="../media/image3.png"/><Relationship Id="rId9" Type="http://schemas.openxmlformats.org/officeDocument/2006/relationships/image" Target="../media/image6.png"/><Relationship Id="rId14" Type="http://schemas.openxmlformats.org/officeDocument/2006/relationships/hyperlink" Target="http://www.linkedin.com/in/spencergallagher"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0" y="777240"/>
            <a:ext cx="12191695" cy="320040"/>
          </a:xfrm>
          <a:prstGeom prst="rect">
            <a:avLst/>
          </a:prstGeom>
          <a:noFill/>
          <a:ln/>
        </p:spPr>
        <p:txBody>
          <a:bodyPr wrap="square" lIns="0" tIns="0" rIns="0" bIns="0" rtlCol="0" anchor="ctr"/>
          <a:lstStyle/>
          <a:p>
            <a:pPr marL="0" indent="0" algn="ctr">
              <a:buNone/>
            </a:pPr>
            <a:r>
              <a:rPr lang="en-US" sz="1300" b="1" kern="0" spc="400" dirty="0">
                <a:solidFill>
                  <a:srgbClr val="1B7EA6"/>
                </a:solidFill>
                <a:latin typeface="Calibri" pitchFamily="34" charset="0"/>
                <a:ea typeface="Calibri" pitchFamily="34" charset="-122"/>
                <a:cs typeface="Calibri" pitchFamily="34" charset="-120"/>
              </a:rPr>
              <a:t>PRE-SEED INVESTMENT ROUND</a:t>
            </a:r>
            <a:endParaRPr lang="en-US" sz="1300" dirty="0"/>
          </a:p>
        </p:txBody>
      </p:sp>
      <p:pic>
        <p:nvPicPr>
          <p:cNvPr id="4" name="Image 1" descr="/sessions/gallant-ecstatic-ramanujan/mnt/outputs/build/assets/logo_teal.png"/>
          <p:cNvPicPr>
            <a:picLocks noChangeAspect="1"/>
          </p:cNvPicPr>
          <p:nvPr/>
        </p:nvPicPr>
        <p:blipFill>
          <a:blip r:embed="rId4"/>
          <a:stretch>
            <a:fillRect/>
          </a:stretch>
        </p:blipFill>
        <p:spPr>
          <a:xfrm>
            <a:off x="3947008" y="1234440"/>
            <a:ext cx="4297680" cy="3173103"/>
          </a:xfrm>
          <a:prstGeom prst="rect">
            <a:avLst/>
          </a:prstGeom>
        </p:spPr>
      </p:pic>
      <p:sp>
        <p:nvSpPr>
          <p:cNvPr id="5" name="Shape 1"/>
          <p:cNvSpPr/>
          <p:nvPr/>
        </p:nvSpPr>
        <p:spPr>
          <a:xfrm>
            <a:off x="3343504" y="4526280"/>
            <a:ext cx="2606040" cy="566928"/>
          </a:xfrm>
          <a:prstGeom prst="roundRect">
            <a:avLst>
              <a:gd name="adj" fmla="val 50000"/>
            </a:avLst>
          </a:prstGeom>
          <a:solidFill>
            <a:srgbClr val="1B7EA6"/>
          </a:solidFill>
          <a:ln/>
          <a:effectLst>
            <a:outerShdw blurRad="76200" dist="25400" dir="5400000" algn="bl" rotWithShape="0">
              <a:srgbClr val="0E2841">
                <a:alpha val="7000"/>
              </a:srgbClr>
            </a:outerShdw>
          </a:effectLst>
        </p:spPr>
        <p:txBody>
          <a:bodyPr/>
          <a:lstStyle/>
          <a:p>
            <a:endParaRPr lang="en-GB" dirty="0"/>
          </a:p>
        </p:txBody>
      </p:sp>
      <p:sp>
        <p:nvSpPr>
          <p:cNvPr id="6" name="Text 2"/>
          <p:cNvSpPr/>
          <p:nvPr/>
        </p:nvSpPr>
        <p:spPr>
          <a:xfrm>
            <a:off x="3343504" y="4526280"/>
            <a:ext cx="2606040" cy="566928"/>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£1,000,000 RAISE</a:t>
            </a:r>
            <a:endParaRPr lang="en-US" sz="1400" dirty="0"/>
          </a:p>
        </p:txBody>
      </p:sp>
      <p:sp>
        <p:nvSpPr>
          <p:cNvPr id="7" name="Shape 3"/>
          <p:cNvSpPr/>
          <p:nvPr/>
        </p:nvSpPr>
        <p:spPr>
          <a:xfrm>
            <a:off x="6242152" y="4526280"/>
            <a:ext cx="2606040" cy="566928"/>
          </a:xfrm>
          <a:prstGeom prst="roundRect">
            <a:avLst>
              <a:gd name="adj" fmla="val 50000"/>
            </a:avLst>
          </a:prstGeom>
          <a:solidFill>
            <a:srgbClr val="FFFFFF"/>
          </a:solidFill>
          <a:ln w="19050">
            <a:solidFill>
              <a:srgbClr val="1B7EA6"/>
            </a:solidFill>
            <a:prstDash val="solid"/>
          </a:ln>
        </p:spPr>
        <p:txBody>
          <a:bodyPr/>
          <a:lstStyle/>
          <a:p>
            <a:endParaRPr lang="en-GB" dirty="0"/>
          </a:p>
        </p:txBody>
      </p:sp>
      <p:sp>
        <p:nvSpPr>
          <p:cNvPr id="8" name="Text 4"/>
          <p:cNvSpPr/>
          <p:nvPr/>
        </p:nvSpPr>
        <p:spPr>
          <a:xfrm>
            <a:off x="6242152" y="4526280"/>
            <a:ext cx="2606040" cy="566928"/>
          </a:xfrm>
          <a:prstGeom prst="rect">
            <a:avLst/>
          </a:prstGeom>
          <a:noFill/>
          <a:ln/>
        </p:spPr>
        <p:txBody>
          <a:bodyPr wrap="square" lIns="0" tIns="0" rIns="0" bIns="0" rtlCol="0" anchor="ctr"/>
          <a:lstStyle/>
          <a:p>
            <a:pPr marL="0" indent="0" algn="ctr">
              <a:buNone/>
            </a:pPr>
            <a:r>
              <a:rPr lang="en-US" sz="1400" b="1" kern="0" spc="100" dirty="0">
                <a:solidFill>
                  <a:srgbClr val="12536E"/>
                </a:solidFill>
                <a:latin typeface="Calibri" pitchFamily="34" charset="0"/>
                <a:ea typeface="Calibri" pitchFamily="34" charset="-122"/>
                <a:cs typeface="Calibri" pitchFamily="34" charset="-120"/>
              </a:rPr>
              <a:t>SEIS / EIS ELIGIBLE</a:t>
            </a:r>
            <a:endParaRPr lang="en-US" sz="1400" dirty="0"/>
          </a:p>
        </p:txBody>
      </p:sp>
      <p:sp>
        <p:nvSpPr>
          <p:cNvPr id="9" name="Text 5"/>
          <p:cNvSpPr/>
          <p:nvPr/>
        </p:nvSpPr>
        <p:spPr>
          <a:xfrm>
            <a:off x="0" y="5532120"/>
            <a:ext cx="12191695" cy="310896"/>
          </a:xfrm>
          <a:prstGeom prst="rect">
            <a:avLst/>
          </a:prstGeom>
          <a:noFill/>
          <a:ln/>
        </p:spPr>
        <p:txBody>
          <a:bodyPr wrap="square" lIns="0" tIns="0" rIns="0" bIns="0" rtlCol="0" anchor="ctr"/>
          <a:lstStyle/>
          <a:p>
            <a:pPr marL="0" indent="0" algn="ctr">
              <a:buNone/>
            </a:pPr>
            <a:r>
              <a:rPr lang="en-US" sz="1250" b="1" dirty="0">
                <a:solidFill>
                  <a:srgbClr val="0E2841"/>
                </a:solidFill>
                <a:latin typeface="Calibri" pitchFamily="34" charset="0"/>
                <a:ea typeface="Calibri" pitchFamily="34" charset="-122"/>
                <a:cs typeface="Calibri" pitchFamily="34" charset="-120"/>
              </a:rPr>
              <a:t>Patrick Barrett &amp; Natalie Linder</a:t>
            </a:r>
            <a:r>
              <a:rPr lang="en-US" sz="1250" dirty="0">
                <a:solidFill>
                  <a:srgbClr val="5E7180"/>
                </a:solidFill>
                <a:latin typeface="Calibri" pitchFamily="34" charset="0"/>
                <a:ea typeface="Calibri" pitchFamily="34" charset="-122"/>
                <a:cs typeface="Calibri" pitchFamily="34" charset="-120"/>
              </a:rPr>
              <a:t>    patrick@aiofusion.ai</a:t>
            </a:r>
            <a:endParaRPr lang="en-US" sz="1250" dirty="0"/>
          </a:p>
        </p:txBody>
      </p:sp>
      <p:sp>
        <p:nvSpPr>
          <p:cNvPr id="10" name="Text 6"/>
          <p:cNvSpPr/>
          <p:nvPr/>
        </p:nvSpPr>
        <p:spPr>
          <a:xfrm>
            <a:off x="0" y="5897880"/>
            <a:ext cx="12191695" cy="274320"/>
          </a:xfrm>
          <a:prstGeom prst="rect">
            <a:avLst/>
          </a:prstGeom>
          <a:noFill/>
          <a:ln/>
        </p:spPr>
        <p:txBody>
          <a:bodyPr wrap="square" lIns="0" tIns="0" rIns="0" bIns="0" rtlCol="0" anchor="ctr"/>
          <a:lstStyle/>
          <a:p>
            <a:pPr marL="0" indent="0" algn="ctr">
              <a:buNone/>
            </a:pPr>
            <a:r>
              <a:rPr lang="en-US" sz="1000" kern="0" spc="100" dirty="0">
                <a:solidFill>
                  <a:srgbClr val="5E7180"/>
                </a:solidFill>
                <a:latin typeface="Calibri" pitchFamily="34" charset="0"/>
                <a:ea typeface="Calibri" pitchFamily="34" charset="-122"/>
                <a:cs typeface="Calibri" pitchFamily="34" charset="-120"/>
              </a:rPr>
              <a:t>June 2026   ·   Strictly Private &amp;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indent="0" algn="l">
              <a:buNone/>
            </a:pPr>
            <a:r>
              <a:rPr lang="en-US" sz="1150" b="1" kern="0" spc="250" dirty="0">
                <a:solidFill>
                  <a:srgbClr val="1B7EA6"/>
                </a:solidFill>
                <a:latin typeface="Calibri" pitchFamily="34" charset="0"/>
                <a:ea typeface="Calibri" pitchFamily="34" charset="-122"/>
                <a:cs typeface="Calibri" pitchFamily="34" charset="-120"/>
              </a:rPr>
              <a:t>THE OPPORTUNITY</a:t>
            </a:r>
            <a:endParaRPr lang="en-US" sz="1150" dirty="0"/>
          </a:p>
        </p:txBody>
      </p:sp>
      <p:sp>
        <p:nvSpPr>
          <p:cNvPr id="5" name="Text 1"/>
          <p:cNvSpPr/>
          <p:nvPr/>
        </p:nvSpPr>
        <p:spPr>
          <a:xfrm>
            <a:off x="566928" y="640080"/>
            <a:ext cx="10058400" cy="1051560"/>
          </a:xfrm>
          <a:prstGeom prst="rect">
            <a:avLst/>
          </a:prstGeom>
          <a:noFill/>
          <a:ln/>
        </p:spPr>
        <p:txBody>
          <a:bodyPr wrap="square" lIns="0" tIns="0" rIns="0" bIns="0" rtlCol="0" anchor="t"/>
          <a:lstStyle/>
          <a:p>
            <a:pPr marL="0" indent="0" algn="l">
              <a:lnSpc>
                <a:spcPct val="98000"/>
              </a:lnSpc>
              <a:buNone/>
            </a:pPr>
            <a:r>
              <a:rPr lang="en-US" sz="2600" b="1" dirty="0">
                <a:solidFill>
                  <a:srgbClr val="0E2841"/>
                </a:solidFill>
                <a:latin typeface="Calibri" pitchFamily="34" charset="0"/>
                <a:ea typeface="Calibri" pitchFamily="34" charset="-122"/>
                <a:cs typeface="Calibri" pitchFamily="34" charset="-120"/>
              </a:rPr>
              <a:t>AI search has changed everything.</a:t>
            </a:r>
            <a:endParaRPr lang="en-US" sz="2600" dirty="0"/>
          </a:p>
          <a:p>
            <a:pPr marL="0" indent="0" algn="l">
              <a:lnSpc>
                <a:spcPct val="98000"/>
              </a:lnSpc>
              <a:buNone/>
            </a:pPr>
            <a:r>
              <a:rPr lang="en-US" sz="2600" b="1" dirty="0">
                <a:solidFill>
                  <a:srgbClr val="0E2841"/>
                </a:solidFill>
                <a:latin typeface="Calibri" pitchFamily="34" charset="0"/>
                <a:ea typeface="Calibri" pitchFamily="34" charset="-122"/>
                <a:cs typeface="Calibri" pitchFamily="34" charset="-120"/>
              </a:rPr>
              <a:t>The PR and marketing industry needs a comprehensive tool to respond.</a:t>
            </a:r>
            <a:endParaRPr lang="en-US" sz="2600" dirty="0"/>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indent="0">
              <a:buNone/>
            </a:pPr>
            <a:r>
              <a:rPr lang="en-US" sz="800" dirty="0">
                <a:solidFill>
                  <a:srgbClr val="5E7180"/>
                </a:solidFill>
                <a:latin typeface="Calibri" pitchFamily="34" charset="0"/>
                <a:ea typeface="Calibri" pitchFamily="34" charset="-122"/>
                <a:cs typeface="Calibri" pitchFamily="34" charset="-120"/>
              </a:rPr>
              <a:t>AIO Fusion Ltd   ·   Pre-Seed Investment Round   ·   June 2026   ·   Confidential</a:t>
            </a:r>
            <a:endParaRPr lang="en-US" sz="800" dirty="0"/>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indent="0" algn="r">
              <a:buNone/>
            </a:pPr>
            <a:r>
              <a:rPr lang="en-US" sz="800" dirty="0">
                <a:solidFill>
                  <a:srgbClr val="5E7180"/>
                </a:solidFill>
                <a:latin typeface="Calibri" pitchFamily="34" charset="0"/>
                <a:ea typeface="Calibri" pitchFamily="34" charset="-122"/>
                <a:cs typeface="Calibri" pitchFamily="34" charset="-120"/>
              </a:rPr>
              <a:t>02</a:t>
            </a:r>
            <a:endParaRPr lang="en-US" sz="800" dirty="0"/>
          </a:p>
        </p:txBody>
      </p:sp>
      <p:sp>
        <p:nvSpPr>
          <p:cNvPr id="8" name="Shape 4"/>
          <p:cNvSpPr/>
          <p:nvPr/>
        </p:nvSpPr>
        <p:spPr>
          <a:xfrm>
            <a:off x="566928" y="2103120"/>
            <a:ext cx="3456432" cy="1874520"/>
          </a:xfrm>
          <a:prstGeom prst="roundRect">
            <a:avLst>
              <a:gd name="adj" fmla="val 2927"/>
            </a:avLst>
          </a:prstGeom>
          <a:solidFill>
            <a:srgbClr val="F5FAFC"/>
          </a:solidFill>
          <a:ln w="12700">
            <a:solidFill>
              <a:srgbClr val="D7E2E9"/>
            </a:solidFill>
            <a:prstDash val="solid"/>
          </a:ln>
          <a:effectLst>
            <a:outerShdw blurRad="76200" dist="25400" dir="5400000" algn="bl" rotWithShape="0">
              <a:srgbClr val="0E2841">
                <a:alpha val="7000"/>
              </a:srgbClr>
            </a:outerShdw>
          </a:effectLst>
        </p:spPr>
        <p:txBody>
          <a:bodyPr/>
          <a:lstStyle/>
          <a:p>
            <a:endParaRPr lang="en-GB" dirty="0"/>
          </a:p>
        </p:txBody>
      </p:sp>
      <p:sp>
        <p:nvSpPr>
          <p:cNvPr id="9" name="Text 5"/>
          <p:cNvSpPr/>
          <p:nvPr/>
        </p:nvSpPr>
        <p:spPr>
          <a:xfrm>
            <a:off x="566928" y="2359152"/>
            <a:ext cx="3456432" cy="868680"/>
          </a:xfrm>
          <a:prstGeom prst="rect">
            <a:avLst/>
          </a:prstGeom>
          <a:noFill/>
          <a:ln/>
        </p:spPr>
        <p:txBody>
          <a:bodyPr wrap="square" lIns="0" tIns="0" rIns="0" bIns="0" rtlCol="0" anchor="ctr"/>
          <a:lstStyle/>
          <a:p>
            <a:pPr marL="0" indent="0" algn="ctr">
              <a:buNone/>
            </a:pPr>
            <a:r>
              <a:rPr lang="en-US" sz="5200" b="1" dirty="0">
                <a:solidFill>
                  <a:srgbClr val="1B7EA6"/>
                </a:solidFill>
                <a:latin typeface="Calibri" pitchFamily="34" charset="0"/>
                <a:ea typeface="Calibri" pitchFamily="34" charset="-122"/>
                <a:cs typeface="Calibri" pitchFamily="34" charset="-120"/>
              </a:rPr>
              <a:t>90%+</a:t>
            </a:r>
            <a:endParaRPr lang="en-US" sz="5200" dirty="0"/>
          </a:p>
        </p:txBody>
      </p:sp>
      <p:sp>
        <p:nvSpPr>
          <p:cNvPr id="10" name="Text 6"/>
          <p:cNvSpPr/>
          <p:nvPr/>
        </p:nvSpPr>
        <p:spPr>
          <a:xfrm>
            <a:off x="795528" y="3273552"/>
            <a:ext cx="2999232" cy="594360"/>
          </a:xfrm>
          <a:prstGeom prst="rect">
            <a:avLst/>
          </a:prstGeom>
          <a:noFill/>
          <a:ln/>
        </p:spPr>
        <p:txBody>
          <a:bodyPr wrap="square" lIns="0" tIns="0" rIns="0" bIns="0" rtlCol="0" anchor="t"/>
          <a:lstStyle/>
          <a:p>
            <a:pPr marL="0" indent="0" algn="ctr">
              <a:lnSpc>
                <a:spcPct val="100000"/>
              </a:lnSpc>
              <a:buNone/>
            </a:pPr>
            <a:r>
              <a:rPr lang="en-US" sz="1250" dirty="0">
                <a:solidFill>
                  <a:srgbClr val="5E7180"/>
                </a:solidFill>
                <a:latin typeface="Calibri" pitchFamily="34" charset="0"/>
                <a:ea typeface="Calibri" pitchFamily="34" charset="-122"/>
                <a:cs typeface="Calibri" pitchFamily="34" charset="-120"/>
              </a:rPr>
              <a:t>of B2B buyers now use AI</a:t>
            </a:r>
            <a:endParaRPr lang="en-US" sz="1250" dirty="0"/>
          </a:p>
          <a:p>
            <a:pPr marL="0" indent="0" algn="ctr">
              <a:lnSpc>
                <a:spcPct val="100000"/>
              </a:lnSpc>
              <a:buNone/>
            </a:pPr>
            <a:r>
              <a:rPr lang="en-US" sz="1250" dirty="0">
                <a:solidFill>
                  <a:srgbClr val="5E7180"/>
                </a:solidFill>
                <a:latin typeface="Calibri" pitchFamily="34" charset="0"/>
                <a:ea typeface="Calibri" pitchFamily="34" charset="-122"/>
                <a:cs typeface="Calibri" pitchFamily="34" charset="-120"/>
              </a:rPr>
              <a:t>in purchase decisions</a:t>
            </a:r>
            <a:endParaRPr lang="en-US" sz="1250" dirty="0"/>
          </a:p>
        </p:txBody>
      </p:sp>
      <p:sp>
        <p:nvSpPr>
          <p:cNvPr id="11" name="Shape 7"/>
          <p:cNvSpPr/>
          <p:nvPr/>
        </p:nvSpPr>
        <p:spPr>
          <a:xfrm>
            <a:off x="4334256" y="2103120"/>
            <a:ext cx="3456432" cy="1874520"/>
          </a:xfrm>
          <a:prstGeom prst="roundRect">
            <a:avLst>
              <a:gd name="adj" fmla="val 2927"/>
            </a:avLst>
          </a:prstGeom>
          <a:solidFill>
            <a:srgbClr val="F5FAFC"/>
          </a:solidFill>
          <a:ln w="12700">
            <a:solidFill>
              <a:srgbClr val="D7E2E9"/>
            </a:solidFill>
            <a:prstDash val="solid"/>
          </a:ln>
          <a:effectLst>
            <a:outerShdw blurRad="76200" dist="25400" dir="5400000" algn="bl" rotWithShape="0">
              <a:srgbClr val="0E2841">
                <a:alpha val="7000"/>
              </a:srgbClr>
            </a:outerShdw>
          </a:effectLst>
        </p:spPr>
        <p:txBody>
          <a:bodyPr/>
          <a:lstStyle/>
          <a:p>
            <a:endParaRPr lang="en-GB" dirty="0"/>
          </a:p>
        </p:txBody>
      </p:sp>
      <p:sp>
        <p:nvSpPr>
          <p:cNvPr id="12" name="Text 8"/>
          <p:cNvSpPr/>
          <p:nvPr/>
        </p:nvSpPr>
        <p:spPr>
          <a:xfrm>
            <a:off x="4334256" y="2359152"/>
            <a:ext cx="3456432" cy="868680"/>
          </a:xfrm>
          <a:prstGeom prst="rect">
            <a:avLst/>
          </a:prstGeom>
          <a:noFill/>
          <a:ln/>
        </p:spPr>
        <p:txBody>
          <a:bodyPr wrap="square" lIns="0" tIns="0" rIns="0" bIns="0" rtlCol="0" anchor="ctr"/>
          <a:lstStyle/>
          <a:p>
            <a:pPr marL="0" indent="0" algn="ctr">
              <a:buNone/>
            </a:pPr>
            <a:r>
              <a:rPr lang="en-US" sz="5200" b="1" dirty="0">
                <a:solidFill>
                  <a:srgbClr val="1B7EA6"/>
                </a:solidFill>
                <a:latin typeface="Calibri" pitchFamily="34" charset="0"/>
                <a:ea typeface="Calibri" pitchFamily="34" charset="-122"/>
                <a:cs typeface="Calibri" pitchFamily="34" charset="-120"/>
              </a:rPr>
              <a:t>80%+</a:t>
            </a:r>
            <a:endParaRPr lang="en-US" sz="5200" dirty="0"/>
          </a:p>
        </p:txBody>
      </p:sp>
      <p:sp>
        <p:nvSpPr>
          <p:cNvPr id="13" name="Text 9"/>
          <p:cNvSpPr/>
          <p:nvPr/>
        </p:nvSpPr>
        <p:spPr>
          <a:xfrm>
            <a:off x="4562856" y="3273552"/>
            <a:ext cx="2999232" cy="594360"/>
          </a:xfrm>
          <a:prstGeom prst="rect">
            <a:avLst/>
          </a:prstGeom>
          <a:noFill/>
          <a:ln/>
        </p:spPr>
        <p:txBody>
          <a:bodyPr wrap="square" lIns="0" tIns="0" rIns="0" bIns="0" rtlCol="0" anchor="t"/>
          <a:lstStyle/>
          <a:p>
            <a:pPr marL="0" indent="0" algn="ctr">
              <a:lnSpc>
                <a:spcPct val="100000"/>
              </a:lnSpc>
              <a:buNone/>
            </a:pPr>
            <a:r>
              <a:rPr lang="en-US" sz="1250" dirty="0">
                <a:solidFill>
                  <a:srgbClr val="5E7180"/>
                </a:solidFill>
                <a:latin typeface="Calibri" pitchFamily="34" charset="0"/>
                <a:ea typeface="Calibri" pitchFamily="34" charset="-122"/>
                <a:cs typeface="Calibri" pitchFamily="34" charset="-120"/>
              </a:rPr>
              <a:t>of all LLM brand citations</a:t>
            </a:r>
            <a:endParaRPr lang="en-US" sz="1250" dirty="0"/>
          </a:p>
          <a:p>
            <a:pPr marL="0" indent="0" algn="ctr">
              <a:lnSpc>
                <a:spcPct val="100000"/>
              </a:lnSpc>
              <a:buNone/>
            </a:pPr>
            <a:r>
              <a:rPr lang="en-US" sz="1250" dirty="0">
                <a:solidFill>
                  <a:srgbClr val="5E7180"/>
                </a:solidFill>
                <a:latin typeface="Calibri" pitchFamily="34" charset="0"/>
                <a:ea typeface="Calibri" pitchFamily="34" charset="-122"/>
                <a:cs typeface="Calibri" pitchFamily="34" charset="-120"/>
              </a:rPr>
              <a:t>come from earned media</a:t>
            </a:r>
            <a:endParaRPr lang="en-US" sz="1250" dirty="0"/>
          </a:p>
        </p:txBody>
      </p:sp>
      <p:sp>
        <p:nvSpPr>
          <p:cNvPr id="16" name="Text 12"/>
          <p:cNvSpPr/>
          <p:nvPr/>
        </p:nvSpPr>
        <p:spPr>
          <a:xfrm>
            <a:off x="8330184" y="3273552"/>
            <a:ext cx="2999232" cy="594360"/>
          </a:xfrm>
          <a:prstGeom prst="rect">
            <a:avLst/>
          </a:prstGeom>
          <a:noFill/>
          <a:ln/>
        </p:spPr>
        <p:txBody>
          <a:bodyPr wrap="square" lIns="0" tIns="0" rIns="0" bIns="0" rtlCol="0" anchor="t"/>
          <a:lstStyle/>
          <a:p>
            <a:pPr marL="0" indent="0" algn="ctr">
              <a:lnSpc>
                <a:spcPct val="100000"/>
              </a:lnSpc>
              <a:buNone/>
            </a:pPr>
            <a:r>
              <a:rPr lang="en-US" sz="1250" dirty="0">
                <a:solidFill>
                  <a:srgbClr val="EAF3F7"/>
                </a:solidFill>
                <a:latin typeface="Calibri" pitchFamily="34" charset="0"/>
                <a:ea typeface="Calibri" pitchFamily="34" charset="-122"/>
                <a:cs typeface="Calibri" pitchFamily="34" charset="-120"/>
              </a:rPr>
              <a:t>in tools address this</a:t>
            </a:r>
            <a:endParaRPr lang="en-US" sz="1250" dirty="0"/>
          </a:p>
          <a:p>
            <a:pPr marL="0" indent="0" algn="ctr">
              <a:lnSpc>
                <a:spcPct val="100000"/>
              </a:lnSpc>
              <a:buNone/>
            </a:pPr>
            <a:r>
              <a:rPr lang="en-US" sz="1250" dirty="0">
                <a:solidFill>
                  <a:srgbClr val="EAF3F7"/>
                </a:solidFill>
                <a:latin typeface="Calibri" pitchFamily="34" charset="0"/>
                <a:ea typeface="Calibri" pitchFamily="34" charset="-122"/>
                <a:cs typeface="Calibri" pitchFamily="34" charset="-120"/>
              </a:rPr>
              <a:t>intersection — until now</a:t>
            </a:r>
            <a:endParaRPr lang="en-US" sz="1250" dirty="0"/>
          </a:p>
        </p:txBody>
      </p:sp>
      <p:sp>
        <p:nvSpPr>
          <p:cNvPr id="17" name="Text 13"/>
          <p:cNvSpPr/>
          <p:nvPr/>
        </p:nvSpPr>
        <p:spPr>
          <a:xfrm>
            <a:off x="566928" y="4251960"/>
            <a:ext cx="11057839" cy="1554480"/>
          </a:xfrm>
          <a:prstGeom prst="rect">
            <a:avLst/>
          </a:prstGeom>
          <a:noFill/>
          <a:ln/>
        </p:spPr>
        <p:txBody>
          <a:bodyPr wrap="square" lIns="0" tIns="0" rIns="0" bIns="0" rtlCol="0" anchor="t"/>
          <a:lstStyle/>
          <a:p>
            <a:pPr marL="0" indent="0" algn="l">
              <a:lnSpc>
                <a:spcPct val="118000"/>
              </a:lnSpc>
              <a:buNone/>
            </a:pPr>
            <a:r>
              <a:rPr lang="en-US" sz="1450" dirty="0">
                <a:solidFill>
                  <a:srgbClr val="0E2841"/>
                </a:solidFill>
                <a:latin typeface="Calibri" pitchFamily="34" charset="0"/>
                <a:ea typeface="Calibri" pitchFamily="34" charset="-122"/>
                <a:cs typeface="Calibri" pitchFamily="34" charset="-120"/>
              </a:rPr>
              <a:t>ChatGPT, Perplexity, Gemini and Claude increasingly answer the questions Google once settled. More than 80% of what those models say about any business or brand comes from earned media. PR is the only function that creates that content at scale. Yet most PR teams are flying blind on AI search because no platform measures AI authority or lets teams act on it. Until now.</a:t>
            </a:r>
          </a:p>
          <a:p>
            <a:pPr marL="0" indent="0" algn="l">
              <a:lnSpc>
                <a:spcPct val="118000"/>
              </a:lnSpc>
              <a:buNone/>
            </a:pPr>
            <a:endParaRPr lang="en-US" sz="1450" dirty="0">
              <a:solidFill>
                <a:srgbClr val="0E2841"/>
              </a:solidFill>
              <a:latin typeface="Calibri" pitchFamily="34" charset="0"/>
              <a:ea typeface="Calibri" pitchFamily="34" charset="-122"/>
              <a:cs typeface="Calibri" pitchFamily="34" charset="-120"/>
            </a:endParaRPr>
          </a:p>
          <a:p>
            <a:pPr marL="0" indent="0" algn="l">
              <a:lnSpc>
                <a:spcPct val="118000"/>
              </a:lnSpc>
              <a:buNone/>
            </a:pPr>
            <a:r>
              <a:rPr lang="en-US" b="1" dirty="0"/>
              <a:t>AIO Fusion is that platform. It reveals your AIO challenge, tells you exactly which earned media activity is driving AI authority, tells you what to do next and gives you the tools to do it.</a:t>
            </a:r>
          </a:p>
        </p:txBody>
      </p:sp>
      <p:sp>
        <p:nvSpPr>
          <p:cNvPr id="18" name="Shape 5">
            <a:extLst>
              <a:ext uri="{FF2B5EF4-FFF2-40B4-BE49-F238E27FC236}">
                <a16:creationId xmlns:a16="http://schemas.microsoft.com/office/drawing/2014/main" id="{181A566B-13F0-F8EE-4E58-41B21FCCE795}"/>
              </a:ext>
            </a:extLst>
          </p:cNvPr>
          <p:cNvSpPr/>
          <p:nvPr/>
        </p:nvSpPr>
        <p:spPr>
          <a:xfrm>
            <a:off x="8019288" y="2103120"/>
            <a:ext cx="3456432" cy="1874520"/>
          </a:xfrm>
          <a:prstGeom prst="roundRect">
            <a:avLst>
              <a:gd name="adj" fmla="val 2034"/>
            </a:avLst>
          </a:prstGeom>
          <a:solidFill>
            <a:srgbClr val="1B7EA6"/>
          </a:solidFill>
          <a:ln w="12700">
            <a:solidFill>
              <a:srgbClr val="1B7EA6"/>
            </a:solidFill>
            <a:prstDash val="solid"/>
          </a:ln>
          <a:effectLst>
            <a:outerShdw blurRad="76200" dist="25400" dir="5400000" algn="bl" rotWithShape="0">
              <a:srgbClr val="0E2841">
                <a:alpha val="7000"/>
              </a:srgbClr>
            </a:outerShdw>
          </a:effectLst>
        </p:spPr>
        <p:txBody>
          <a:bodyPr/>
          <a:lstStyle/>
          <a:p>
            <a:endParaRPr lang="en-GB" dirty="0"/>
          </a:p>
        </p:txBody>
      </p:sp>
      <p:sp>
        <p:nvSpPr>
          <p:cNvPr id="19" name="Text 7">
            <a:extLst>
              <a:ext uri="{FF2B5EF4-FFF2-40B4-BE49-F238E27FC236}">
                <a16:creationId xmlns:a16="http://schemas.microsoft.com/office/drawing/2014/main" id="{A182867E-F638-9EBC-DFC3-BF175533A1B7}"/>
              </a:ext>
            </a:extLst>
          </p:cNvPr>
          <p:cNvSpPr/>
          <p:nvPr/>
        </p:nvSpPr>
        <p:spPr>
          <a:xfrm>
            <a:off x="8484138" y="2395168"/>
            <a:ext cx="2722991" cy="984917"/>
          </a:xfrm>
          <a:prstGeom prst="rect">
            <a:avLst/>
          </a:prstGeom>
          <a:noFill/>
          <a:ln/>
        </p:spPr>
        <p:txBody>
          <a:bodyPr wrap="square" lIns="0" tIns="0" rIns="0" bIns="0" rtlCol="0" anchor="t"/>
          <a:lstStyle/>
          <a:p>
            <a:pPr marL="0" indent="0">
              <a:lnSpc>
                <a:spcPct val="112000"/>
              </a:lnSpc>
              <a:buNone/>
            </a:pPr>
            <a:r>
              <a:rPr lang="en-US" sz="1300" b="1" i="1" dirty="0">
                <a:solidFill>
                  <a:srgbClr val="FFFFFF"/>
                </a:solidFill>
                <a:latin typeface="Calibri" pitchFamily="34" charset="0"/>
                <a:ea typeface="Calibri" pitchFamily="34" charset="-122"/>
                <a:cs typeface="Calibri" pitchFamily="34" charset="-120"/>
              </a:rPr>
              <a:t>The information LLMs cite is built on PR and content marketing.  Not your website. Securing editorial coverage, expert citations and third-party validation is the single most important activity for building AI visibility.</a:t>
            </a:r>
            <a:endParaRPr lang="en-US" sz="1300" dirty="0"/>
          </a:p>
        </p:txBody>
      </p:sp>
      <p:sp>
        <p:nvSpPr>
          <p:cNvPr id="20" name="Text 6">
            <a:extLst>
              <a:ext uri="{FF2B5EF4-FFF2-40B4-BE49-F238E27FC236}">
                <a16:creationId xmlns:a16="http://schemas.microsoft.com/office/drawing/2014/main" id="{C0403858-BC66-6E1C-F00E-1364B4EEF910}"/>
              </a:ext>
            </a:extLst>
          </p:cNvPr>
          <p:cNvSpPr/>
          <p:nvPr/>
        </p:nvSpPr>
        <p:spPr>
          <a:xfrm>
            <a:off x="8101584" y="2039112"/>
            <a:ext cx="914400" cy="914400"/>
          </a:xfrm>
          <a:prstGeom prst="rect">
            <a:avLst/>
          </a:prstGeom>
          <a:noFill/>
          <a:ln/>
        </p:spPr>
        <p:txBody>
          <a:bodyPr wrap="square" lIns="0" tIns="0" rIns="0" bIns="0" rtlCol="0" anchor="ctr"/>
          <a:lstStyle/>
          <a:p>
            <a:pPr marL="0" indent="0">
              <a:buNone/>
            </a:pPr>
            <a:r>
              <a:rPr lang="en-US" sz="6200" b="1" dirty="0">
                <a:solidFill>
                  <a:srgbClr val="5FB0CC"/>
                </a:solidFill>
                <a:latin typeface="Georgia" pitchFamily="34" charset="0"/>
                <a:ea typeface="Georgia" pitchFamily="34" charset="-122"/>
                <a:cs typeface="Georgia" pitchFamily="34" charset="-120"/>
              </a:rPr>
              <a:t>“</a:t>
            </a:r>
            <a:endParaRPr lang="en-US" sz="6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indent="0" algn="l">
              <a:buNone/>
            </a:pPr>
            <a:r>
              <a:rPr lang="en-US" sz="1150" b="1" kern="0" spc="250" dirty="0">
                <a:solidFill>
                  <a:srgbClr val="1B7EA6"/>
                </a:solidFill>
                <a:latin typeface="Calibri" pitchFamily="34" charset="0"/>
                <a:ea typeface="Calibri" pitchFamily="34" charset="-122"/>
                <a:cs typeface="Calibri" pitchFamily="34" charset="-120"/>
              </a:rPr>
              <a:t>THE PROBLEM</a:t>
            </a:r>
            <a:endParaRPr lang="en-US" sz="1150" dirty="0"/>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indent="0" algn="l">
              <a:lnSpc>
                <a:spcPct val="98000"/>
              </a:lnSpc>
              <a:buNone/>
            </a:pPr>
            <a:r>
              <a:rPr lang="en-US" sz="2700" b="1" dirty="0">
                <a:solidFill>
                  <a:srgbClr val="0E2841"/>
                </a:solidFill>
                <a:latin typeface="Calibri" pitchFamily="34" charset="0"/>
                <a:ea typeface="Calibri" pitchFamily="34" charset="-122"/>
                <a:cs typeface="Calibri" pitchFamily="34" charset="-120"/>
              </a:rPr>
              <a:t>Two gaps. What’s needed is a </a:t>
            </a:r>
            <a:r>
              <a:rPr lang="en-US" sz="2700" b="1" u="sng" dirty="0">
                <a:solidFill>
                  <a:srgbClr val="0E2841"/>
                </a:solidFill>
                <a:latin typeface="Calibri" pitchFamily="34" charset="0"/>
                <a:ea typeface="Calibri" pitchFamily="34" charset="-122"/>
                <a:cs typeface="Calibri" pitchFamily="34" charset="-120"/>
              </a:rPr>
              <a:t>fusion</a:t>
            </a:r>
            <a:r>
              <a:rPr lang="en-US" sz="2700" b="1" dirty="0">
                <a:solidFill>
                  <a:srgbClr val="0E2841"/>
                </a:solidFill>
                <a:latin typeface="Calibri" pitchFamily="34" charset="0"/>
                <a:ea typeface="Calibri" pitchFamily="34" charset="-122"/>
                <a:cs typeface="Calibri" pitchFamily="34" charset="-120"/>
              </a:rPr>
              <a:t> of disciplines.</a:t>
            </a:r>
            <a:endParaRPr lang="en-US" sz="2700" dirty="0"/>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indent="0">
              <a:buNone/>
            </a:pPr>
            <a:r>
              <a:rPr lang="en-US" sz="800" dirty="0">
                <a:solidFill>
                  <a:srgbClr val="5E7180"/>
                </a:solidFill>
                <a:latin typeface="Calibri" pitchFamily="34" charset="0"/>
                <a:ea typeface="Calibri" pitchFamily="34" charset="-122"/>
                <a:cs typeface="Calibri" pitchFamily="34" charset="-120"/>
              </a:rPr>
              <a:t>AIO Fusion Ltd   ·   Pre-Seed Investment Round   ·   June 2026   ·   Confidential</a:t>
            </a:r>
            <a:endParaRPr lang="en-US" sz="800" dirty="0"/>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indent="0" algn="r">
              <a:buNone/>
            </a:pPr>
            <a:r>
              <a:rPr lang="en-US" sz="800" dirty="0">
                <a:solidFill>
                  <a:srgbClr val="5E7180"/>
                </a:solidFill>
                <a:latin typeface="Calibri" pitchFamily="34" charset="0"/>
                <a:ea typeface="Calibri" pitchFamily="34" charset="-122"/>
                <a:cs typeface="Calibri" pitchFamily="34" charset="-120"/>
              </a:rPr>
              <a:t>03</a:t>
            </a:r>
            <a:endParaRPr lang="en-US" sz="800" dirty="0"/>
          </a:p>
        </p:txBody>
      </p:sp>
      <p:sp>
        <p:nvSpPr>
          <p:cNvPr id="8" name="Shape 4"/>
          <p:cNvSpPr/>
          <p:nvPr/>
        </p:nvSpPr>
        <p:spPr>
          <a:xfrm>
            <a:off x="566928" y="1783080"/>
            <a:ext cx="3529584" cy="416052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endParaRPr lang="en-GB" dirty="0"/>
          </a:p>
        </p:txBody>
      </p:sp>
      <p:sp>
        <p:nvSpPr>
          <p:cNvPr id="9" name="Text 5"/>
          <p:cNvSpPr/>
          <p:nvPr/>
        </p:nvSpPr>
        <p:spPr>
          <a:xfrm>
            <a:off x="822960" y="2020824"/>
            <a:ext cx="1280160" cy="640080"/>
          </a:xfrm>
          <a:prstGeom prst="rect">
            <a:avLst/>
          </a:prstGeom>
          <a:noFill/>
          <a:ln/>
        </p:spPr>
        <p:txBody>
          <a:bodyPr wrap="square" lIns="0" tIns="0" rIns="0" bIns="0" rtlCol="0" anchor="ctr"/>
          <a:lstStyle/>
          <a:p>
            <a:pPr marL="0" indent="0">
              <a:buNone/>
            </a:pPr>
            <a:r>
              <a:rPr lang="en-US" sz="3200" b="1" dirty="0">
                <a:solidFill>
                  <a:srgbClr val="BBD7E3"/>
                </a:solidFill>
                <a:latin typeface="Calibri" pitchFamily="34" charset="0"/>
                <a:ea typeface="Calibri" pitchFamily="34" charset="-122"/>
                <a:cs typeface="Calibri" pitchFamily="34" charset="-120"/>
              </a:rPr>
              <a:t>01</a:t>
            </a:r>
            <a:endParaRPr lang="en-US" sz="3200" dirty="0"/>
          </a:p>
        </p:txBody>
      </p:sp>
      <p:sp>
        <p:nvSpPr>
          <p:cNvPr id="10" name="Text 6"/>
          <p:cNvSpPr/>
          <p:nvPr/>
        </p:nvSpPr>
        <p:spPr>
          <a:xfrm>
            <a:off x="822960" y="2743200"/>
            <a:ext cx="3017520" cy="777240"/>
          </a:xfrm>
          <a:prstGeom prst="rect">
            <a:avLst/>
          </a:prstGeom>
          <a:noFill/>
          <a:ln/>
        </p:spPr>
        <p:txBody>
          <a:bodyPr wrap="square" lIns="0" tIns="0" rIns="0" bIns="0" rtlCol="0" anchor="t"/>
          <a:lstStyle/>
          <a:p>
            <a:pPr marL="0" indent="0">
              <a:lnSpc>
                <a:spcPct val="100000"/>
              </a:lnSpc>
              <a:buNone/>
            </a:pPr>
            <a:r>
              <a:rPr lang="en-US" sz="1650" b="1" dirty="0">
                <a:solidFill>
                  <a:srgbClr val="0E2841"/>
                </a:solidFill>
                <a:latin typeface="Calibri" pitchFamily="34" charset="0"/>
                <a:ea typeface="Calibri" pitchFamily="34" charset="-122"/>
                <a:cs typeface="Calibri" pitchFamily="34" charset="-120"/>
              </a:rPr>
              <a:t>PR tools are using AI tactically</a:t>
            </a:r>
            <a:endParaRPr lang="en-US" sz="1650" dirty="0"/>
          </a:p>
        </p:txBody>
      </p:sp>
      <p:sp>
        <p:nvSpPr>
          <p:cNvPr id="11" name="Text 7"/>
          <p:cNvSpPr/>
          <p:nvPr/>
        </p:nvSpPr>
        <p:spPr>
          <a:xfrm>
            <a:off x="822960" y="3566160"/>
            <a:ext cx="3017520" cy="1691640"/>
          </a:xfrm>
          <a:prstGeom prst="rect">
            <a:avLst/>
          </a:prstGeom>
          <a:noFill/>
          <a:ln/>
        </p:spPr>
        <p:txBody>
          <a:bodyPr wrap="square" lIns="0" tIns="0" rIns="0" bIns="0" rtlCol="0" anchor="t"/>
          <a:lstStyle/>
          <a:p>
            <a:pPr marL="0" indent="0">
              <a:lnSpc>
                <a:spcPct val="112000"/>
              </a:lnSpc>
              <a:buNone/>
            </a:pPr>
            <a:r>
              <a:rPr lang="en-US" sz="1200" dirty="0">
                <a:solidFill>
                  <a:srgbClr val="5E7180"/>
                </a:solidFill>
                <a:latin typeface="Calibri" pitchFamily="34" charset="0"/>
                <a:ea typeface="Calibri" pitchFamily="34" charset="-122"/>
                <a:cs typeface="Calibri" pitchFamily="34" charset="-120"/>
              </a:rPr>
              <a:t>Heritage players such as Cision, Muck Rack, </a:t>
            </a:r>
            <a:r>
              <a:rPr lang="en-US" sz="1200" dirty="0" err="1">
                <a:solidFill>
                  <a:srgbClr val="5E7180"/>
                </a:solidFill>
                <a:latin typeface="Calibri" pitchFamily="34" charset="0"/>
                <a:ea typeface="Calibri" pitchFamily="34" charset="-122"/>
                <a:cs typeface="Calibri" pitchFamily="34" charset="-120"/>
              </a:rPr>
              <a:t>Semrush</a:t>
            </a:r>
            <a:r>
              <a:rPr lang="en-US" sz="1200" dirty="0">
                <a:solidFill>
                  <a:srgbClr val="5E7180"/>
                </a:solidFill>
                <a:latin typeface="Calibri" pitchFamily="34" charset="0"/>
                <a:ea typeface="Calibri" pitchFamily="34" charset="-122"/>
                <a:cs typeface="Calibri" pitchFamily="34" charset="-120"/>
              </a:rPr>
              <a:t>/</a:t>
            </a:r>
            <a:r>
              <a:rPr lang="en-US" sz="1200" dirty="0" err="1">
                <a:solidFill>
                  <a:srgbClr val="5E7180"/>
                </a:solidFill>
                <a:latin typeface="Calibri" pitchFamily="34" charset="0"/>
                <a:ea typeface="Calibri" pitchFamily="34" charset="-122"/>
                <a:cs typeface="Calibri" pitchFamily="34" charset="-120"/>
              </a:rPr>
              <a:t>Prowly</a:t>
            </a:r>
            <a:r>
              <a:rPr lang="en-US" sz="1200" dirty="0">
                <a:solidFill>
                  <a:srgbClr val="5E7180"/>
                </a:solidFill>
                <a:latin typeface="Calibri" pitchFamily="34" charset="0"/>
                <a:ea typeface="Calibri" pitchFamily="34" charset="-122"/>
                <a:cs typeface="Calibri" pitchFamily="34" charset="-120"/>
              </a:rPr>
              <a:t> and </a:t>
            </a:r>
            <a:r>
              <a:rPr lang="en-US" sz="1200" dirty="0" err="1">
                <a:solidFill>
                  <a:srgbClr val="5E7180"/>
                </a:solidFill>
                <a:latin typeface="Calibri" pitchFamily="34" charset="0"/>
                <a:ea typeface="Calibri" pitchFamily="34" charset="-122"/>
                <a:cs typeface="Calibri" pitchFamily="34" charset="-120"/>
              </a:rPr>
              <a:t>Onclusive</a:t>
            </a:r>
            <a:r>
              <a:rPr lang="en-US" sz="1200" dirty="0">
                <a:solidFill>
                  <a:srgbClr val="5E7180"/>
                </a:solidFill>
                <a:latin typeface="Calibri" pitchFamily="34" charset="0"/>
                <a:ea typeface="Calibri" pitchFamily="34" charset="-122"/>
                <a:cs typeface="Calibri" pitchFamily="34" charset="-120"/>
              </a:rPr>
              <a:t> are adding tactical AI elements, but none measure AI visibility strategically or enable PR teams to systematically </a:t>
            </a:r>
            <a:r>
              <a:rPr lang="en-US" sz="1200" dirty="0" err="1">
                <a:solidFill>
                  <a:srgbClr val="5E7180"/>
                </a:solidFill>
                <a:latin typeface="Calibri" pitchFamily="34" charset="0"/>
                <a:ea typeface="Calibri" pitchFamily="34" charset="-122"/>
                <a:cs typeface="Calibri" pitchFamily="34" charset="-120"/>
              </a:rPr>
              <a:t>optimise</a:t>
            </a:r>
            <a:r>
              <a:rPr lang="en-US" sz="1200" dirty="0">
                <a:solidFill>
                  <a:srgbClr val="5E7180"/>
                </a:solidFill>
                <a:latin typeface="Calibri" pitchFamily="34" charset="0"/>
                <a:ea typeface="Calibri" pitchFamily="34" charset="-122"/>
                <a:cs typeface="Calibri" pitchFamily="34" charset="-120"/>
              </a:rPr>
              <a:t> content and marketing output over time. Nor do they enable teams to create, manage and measure their PR and marketing plans in one place. </a:t>
            </a:r>
            <a:endParaRPr lang="en-US" sz="1200" dirty="0"/>
          </a:p>
        </p:txBody>
      </p:sp>
      <p:sp>
        <p:nvSpPr>
          <p:cNvPr id="12" name="Shape 8"/>
          <p:cNvSpPr/>
          <p:nvPr/>
        </p:nvSpPr>
        <p:spPr>
          <a:xfrm>
            <a:off x="822960" y="5230368"/>
            <a:ext cx="3017520" cy="0"/>
          </a:xfrm>
          <a:prstGeom prst="line">
            <a:avLst/>
          </a:prstGeom>
          <a:noFill/>
          <a:ln w="12700">
            <a:solidFill>
              <a:srgbClr val="D7E2E9"/>
            </a:solidFill>
            <a:prstDash val="solid"/>
          </a:ln>
        </p:spPr>
        <p:txBody>
          <a:bodyPr/>
          <a:lstStyle/>
          <a:p>
            <a:endParaRPr lang="en-GB" dirty="0"/>
          </a:p>
        </p:txBody>
      </p:sp>
      <p:sp>
        <p:nvSpPr>
          <p:cNvPr id="13" name="Text 9"/>
          <p:cNvSpPr/>
          <p:nvPr/>
        </p:nvSpPr>
        <p:spPr>
          <a:xfrm>
            <a:off x="822960" y="5303520"/>
            <a:ext cx="3017520" cy="502920"/>
          </a:xfrm>
          <a:prstGeom prst="rect">
            <a:avLst/>
          </a:prstGeom>
          <a:noFill/>
          <a:ln/>
        </p:spPr>
        <p:txBody>
          <a:bodyPr wrap="square" lIns="0" tIns="0" rIns="0" bIns="0" rtlCol="0" anchor="ctr"/>
          <a:lstStyle/>
          <a:p>
            <a:pPr marL="0" indent="0">
              <a:lnSpc>
                <a:spcPct val="100000"/>
              </a:lnSpc>
              <a:buNone/>
            </a:pPr>
            <a:r>
              <a:rPr lang="en-US" sz="1050" b="1" i="1" dirty="0">
                <a:solidFill>
                  <a:srgbClr val="1B7EA6"/>
                </a:solidFill>
                <a:latin typeface="Calibri" pitchFamily="34" charset="0"/>
                <a:ea typeface="Calibri" pitchFamily="34" charset="-122"/>
                <a:cs typeface="Calibri" pitchFamily="34" charset="-120"/>
              </a:rPr>
              <a:t>Legacy platforms: weak AI-visibility capability</a:t>
            </a:r>
            <a:endParaRPr lang="en-US" sz="1050" dirty="0"/>
          </a:p>
        </p:txBody>
      </p:sp>
      <p:sp>
        <p:nvSpPr>
          <p:cNvPr id="14" name="Shape 10"/>
          <p:cNvSpPr/>
          <p:nvPr/>
        </p:nvSpPr>
        <p:spPr>
          <a:xfrm>
            <a:off x="4343400" y="1783080"/>
            <a:ext cx="3529584" cy="416052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endParaRPr lang="en-GB" dirty="0"/>
          </a:p>
        </p:txBody>
      </p:sp>
      <p:sp>
        <p:nvSpPr>
          <p:cNvPr id="15" name="Text 11"/>
          <p:cNvSpPr/>
          <p:nvPr/>
        </p:nvSpPr>
        <p:spPr>
          <a:xfrm>
            <a:off x="4599432" y="2020824"/>
            <a:ext cx="1280160" cy="640080"/>
          </a:xfrm>
          <a:prstGeom prst="rect">
            <a:avLst/>
          </a:prstGeom>
          <a:noFill/>
          <a:ln/>
        </p:spPr>
        <p:txBody>
          <a:bodyPr wrap="square" lIns="0" tIns="0" rIns="0" bIns="0" rtlCol="0" anchor="ctr"/>
          <a:lstStyle/>
          <a:p>
            <a:pPr marL="0" indent="0">
              <a:buNone/>
            </a:pPr>
            <a:r>
              <a:rPr lang="en-US" sz="3200" b="1" dirty="0">
                <a:solidFill>
                  <a:srgbClr val="BBD7E3"/>
                </a:solidFill>
                <a:latin typeface="Calibri" pitchFamily="34" charset="0"/>
                <a:ea typeface="Calibri" pitchFamily="34" charset="-122"/>
                <a:cs typeface="Calibri" pitchFamily="34" charset="-120"/>
              </a:rPr>
              <a:t>02</a:t>
            </a:r>
            <a:endParaRPr lang="en-US" sz="3200" dirty="0"/>
          </a:p>
        </p:txBody>
      </p:sp>
      <p:sp>
        <p:nvSpPr>
          <p:cNvPr id="16" name="Text 12"/>
          <p:cNvSpPr/>
          <p:nvPr/>
        </p:nvSpPr>
        <p:spPr>
          <a:xfrm>
            <a:off x="4599432" y="2743200"/>
            <a:ext cx="3017520" cy="777240"/>
          </a:xfrm>
          <a:prstGeom prst="rect">
            <a:avLst/>
          </a:prstGeom>
          <a:noFill/>
          <a:ln/>
        </p:spPr>
        <p:txBody>
          <a:bodyPr wrap="square" lIns="0" tIns="0" rIns="0" bIns="0" rtlCol="0" anchor="t"/>
          <a:lstStyle/>
          <a:p>
            <a:pPr marL="0" indent="0">
              <a:lnSpc>
                <a:spcPct val="100000"/>
              </a:lnSpc>
              <a:buNone/>
            </a:pPr>
            <a:r>
              <a:rPr lang="en-US" sz="1650" b="1" dirty="0">
                <a:solidFill>
                  <a:srgbClr val="0E2841"/>
                </a:solidFill>
                <a:latin typeface="Calibri" pitchFamily="34" charset="0"/>
                <a:ea typeface="Calibri" pitchFamily="34" charset="-122"/>
                <a:cs typeface="Calibri" pitchFamily="34" charset="-120"/>
              </a:rPr>
              <a:t>AI-visibility tools don't do PR</a:t>
            </a:r>
            <a:endParaRPr lang="en-US" sz="1650" dirty="0"/>
          </a:p>
        </p:txBody>
      </p:sp>
      <p:sp>
        <p:nvSpPr>
          <p:cNvPr id="17" name="Text 13"/>
          <p:cNvSpPr/>
          <p:nvPr/>
        </p:nvSpPr>
        <p:spPr>
          <a:xfrm>
            <a:off x="4599432" y="3566160"/>
            <a:ext cx="3017520" cy="1691640"/>
          </a:xfrm>
          <a:prstGeom prst="rect">
            <a:avLst/>
          </a:prstGeom>
          <a:noFill/>
          <a:ln/>
        </p:spPr>
        <p:txBody>
          <a:bodyPr wrap="square" lIns="0" tIns="0" rIns="0" bIns="0" rtlCol="0" anchor="t"/>
          <a:lstStyle/>
          <a:p>
            <a:pPr marL="0" indent="0">
              <a:lnSpc>
                <a:spcPct val="112000"/>
              </a:lnSpc>
              <a:buNone/>
            </a:pPr>
            <a:r>
              <a:rPr lang="en-US" sz="1200" dirty="0">
                <a:solidFill>
                  <a:srgbClr val="5E7180"/>
                </a:solidFill>
                <a:latin typeface="Calibri" pitchFamily="34" charset="0"/>
                <a:ea typeface="Calibri" pitchFamily="34" charset="-122"/>
                <a:cs typeface="Calibri" pitchFamily="34" charset="-120"/>
              </a:rPr>
              <a:t>Searchable, Profound, </a:t>
            </a:r>
            <a:r>
              <a:rPr lang="en-US" sz="1200" dirty="0" err="1">
                <a:solidFill>
                  <a:srgbClr val="5E7180"/>
                </a:solidFill>
                <a:latin typeface="Calibri" pitchFamily="34" charset="0"/>
                <a:ea typeface="Calibri" pitchFamily="34" charset="-122"/>
                <a:cs typeface="Calibri" pitchFamily="34" charset="-120"/>
              </a:rPr>
              <a:t>LLMRefs</a:t>
            </a:r>
            <a:r>
              <a:rPr lang="en-US" sz="1200" dirty="0">
                <a:solidFill>
                  <a:srgbClr val="5E7180"/>
                </a:solidFill>
                <a:latin typeface="Calibri" pitchFamily="34" charset="0"/>
                <a:ea typeface="Calibri" pitchFamily="34" charset="-122"/>
                <a:cs typeface="Calibri" pitchFamily="34" charset="-120"/>
              </a:rPr>
              <a:t>, Scrunch AI, Peec AI and Otterly.AI show where you appear in AI answers but ignore earned media. No workflow, no earned editorial content creation, no media intelligence, no comms planning. </a:t>
            </a:r>
          </a:p>
          <a:p>
            <a:pPr marL="0" indent="0">
              <a:lnSpc>
                <a:spcPct val="112000"/>
              </a:lnSpc>
              <a:buNone/>
            </a:pPr>
            <a:r>
              <a:rPr lang="en-US" sz="1200" dirty="0">
                <a:solidFill>
                  <a:srgbClr val="5E7180"/>
                </a:solidFill>
                <a:latin typeface="Calibri" pitchFamily="34" charset="0"/>
                <a:ea typeface="Calibri" pitchFamily="34" charset="-122"/>
                <a:cs typeface="Calibri" pitchFamily="34" charset="-120"/>
              </a:rPr>
              <a:t>They do not enable the SEO industry to migrate effectively to AIO using earned media.</a:t>
            </a:r>
            <a:endParaRPr lang="en-US" sz="1200" dirty="0"/>
          </a:p>
        </p:txBody>
      </p:sp>
      <p:sp>
        <p:nvSpPr>
          <p:cNvPr id="18" name="Shape 14"/>
          <p:cNvSpPr/>
          <p:nvPr/>
        </p:nvSpPr>
        <p:spPr>
          <a:xfrm>
            <a:off x="4599432" y="5230368"/>
            <a:ext cx="3017520" cy="0"/>
          </a:xfrm>
          <a:prstGeom prst="line">
            <a:avLst/>
          </a:prstGeom>
          <a:noFill/>
          <a:ln w="12700">
            <a:solidFill>
              <a:srgbClr val="D7E2E9"/>
            </a:solidFill>
            <a:prstDash val="solid"/>
          </a:ln>
        </p:spPr>
        <p:txBody>
          <a:bodyPr/>
          <a:lstStyle/>
          <a:p>
            <a:endParaRPr lang="en-GB" dirty="0"/>
          </a:p>
        </p:txBody>
      </p:sp>
      <p:sp>
        <p:nvSpPr>
          <p:cNvPr id="19" name="Text 15"/>
          <p:cNvSpPr/>
          <p:nvPr/>
        </p:nvSpPr>
        <p:spPr>
          <a:xfrm>
            <a:off x="4599432" y="5303520"/>
            <a:ext cx="3017520" cy="502920"/>
          </a:xfrm>
          <a:prstGeom prst="rect">
            <a:avLst/>
          </a:prstGeom>
          <a:noFill/>
          <a:ln/>
        </p:spPr>
        <p:txBody>
          <a:bodyPr wrap="square" lIns="0" tIns="0" rIns="0" bIns="0" rtlCol="0" anchor="ctr"/>
          <a:lstStyle/>
          <a:p>
            <a:pPr marL="0" indent="0">
              <a:lnSpc>
                <a:spcPct val="100000"/>
              </a:lnSpc>
              <a:buNone/>
            </a:pPr>
            <a:r>
              <a:rPr lang="en-US" sz="1050" b="1" i="1" dirty="0">
                <a:solidFill>
                  <a:srgbClr val="1B7EA6"/>
                </a:solidFill>
                <a:latin typeface="Calibri" pitchFamily="34" charset="0"/>
                <a:ea typeface="Calibri" pitchFamily="34" charset="-122"/>
                <a:cs typeface="Calibri" pitchFamily="34" charset="-120"/>
              </a:rPr>
              <a:t>Monitoring and SEO focus: weak or no execution layer</a:t>
            </a:r>
            <a:endParaRPr lang="en-US" sz="1050" dirty="0"/>
          </a:p>
        </p:txBody>
      </p:sp>
      <p:sp>
        <p:nvSpPr>
          <p:cNvPr id="20" name="Shape 16"/>
          <p:cNvSpPr/>
          <p:nvPr/>
        </p:nvSpPr>
        <p:spPr>
          <a:xfrm>
            <a:off x="8119872" y="1783080"/>
            <a:ext cx="3529584" cy="4160520"/>
          </a:xfrm>
          <a:prstGeom prst="roundRect">
            <a:avLst>
              <a:gd name="adj" fmla="val 1554"/>
            </a:avLst>
          </a:prstGeom>
          <a:solidFill>
            <a:srgbClr val="1B7EA6"/>
          </a:solidFill>
          <a:ln w="12700">
            <a:solidFill>
              <a:srgbClr val="1B7EA6"/>
            </a:solidFill>
            <a:prstDash val="solid"/>
          </a:ln>
          <a:effectLst>
            <a:outerShdw blurRad="76200" dist="25400" dir="5400000" algn="bl" rotWithShape="0">
              <a:srgbClr val="0E2841">
                <a:alpha val="7000"/>
              </a:srgbClr>
            </a:outerShdw>
          </a:effectLst>
        </p:spPr>
        <p:txBody>
          <a:bodyPr/>
          <a:lstStyle/>
          <a:p>
            <a:endParaRPr lang="en-GB" dirty="0"/>
          </a:p>
        </p:txBody>
      </p:sp>
      <p:sp>
        <p:nvSpPr>
          <p:cNvPr id="21" name="Text 17"/>
          <p:cNvSpPr/>
          <p:nvPr/>
        </p:nvSpPr>
        <p:spPr>
          <a:xfrm>
            <a:off x="8375904" y="2020824"/>
            <a:ext cx="3017520" cy="640080"/>
          </a:xfrm>
          <a:prstGeom prst="rect">
            <a:avLst/>
          </a:prstGeom>
          <a:noFill/>
          <a:ln/>
        </p:spPr>
        <p:txBody>
          <a:bodyPr wrap="square" lIns="0" tIns="0" rIns="0" bIns="0" rtlCol="0" anchor="ctr"/>
          <a:lstStyle/>
          <a:p>
            <a:pPr marL="0" indent="0">
              <a:buNone/>
            </a:pPr>
            <a:r>
              <a:rPr lang="en-US" sz="3200" b="1" dirty="0">
                <a:solidFill>
                  <a:srgbClr val="9FD4E6"/>
                </a:solidFill>
                <a:latin typeface="Calibri" pitchFamily="34" charset="0"/>
                <a:ea typeface="Calibri" pitchFamily="34" charset="-122"/>
                <a:cs typeface="Calibri" pitchFamily="34" charset="-120"/>
              </a:rPr>
              <a:t>1+2 = AIO Fusion</a:t>
            </a:r>
            <a:endParaRPr lang="en-US" sz="3200" dirty="0"/>
          </a:p>
        </p:txBody>
      </p:sp>
      <p:sp>
        <p:nvSpPr>
          <p:cNvPr id="22" name="Text 18"/>
          <p:cNvSpPr/>
          <p:nvPr/>
        </p:nvSpPr>
        <p:spPr>
          <a:xfrm>
            <a:off x="8375904" y="2743200"/>
            <a:ext cx="3017520" cy="777240"/>
          </a:xfrm>
          <a:prstGeom prst="rect">
            <a:avLst/>
          </a:prstGeom>
          <a:noFill/>
          <a:ln/>
        </p:spPr>
        <p:txBody>
          <a:bodyPr wrap="square" lIns="0" tIns="0" rIns="0" bIns="0" rtlCol="0" anchor="t"/>
          <a:lstStyle/>
          <a:p>
            <a:pPr marL="0" indent="0">
              <a:lnSpc>
                <a:spcPct val="100000"/>
              </a:lnSpc>
              <a:buNone/>
            </a:pPr>
            <a:r>
              <a:rPr lang="en-US" sz="1650" b="1" dirty="0">
                <a:solidFill>
                  <a:srgbClr val="FFFFFF"/>
                </a:solidFill>
                <a:latin typeface="Calibri" pitchFamily="34" charset="0"/>
                <a:ea typeface="Calibri" pitchFamily="34" charset="-122"/>
                <a:cs typeface="Calibri" pitchFamily="34" charset="-120"/>
              </a:rPr>
              <a:t>We have closed the gap</a:t>
            </a:r>
            <a:endParaRPr lang="en-US" sz="1650" dirty="0"/>
          </a:p>
        </p:txBody>
      </p:sp>
      <p:sp>
        <p:nvSpPr>
          <p:cNvPr id="23" name="Text 19"/>
          <p:cNvSpPr/>
          <p:nvPr/>
        </p:nvSpPr>
        <p:spPr>
          <a:xfrm>
            <a:off x="8375904" y="3566160"/>
            <a:ext cx="3017520" cy="1691640"/>
          </a:xfrm>
          <a:prstGeom prst="rect">
            <a:avLst/>
          </a:prstGeom>
          <a:noFill/>
          <a:ln/>
        </p:spPr>
        <p:txBody>
          <a:bodyPr wrap="square" lIns="0" tIns="0" rIns="0" bIns="0" rtlCol="0" anchor="t"/>
          <a:lstStyle/>
          <a:p>
            <a:pPr marL="0" indent="0">
              <a:lnSpc>
                <a:spcPct val="112000"/>
              </a:lnSpc>
              <a:buNone/>
            </a:pPr>
            <a:r>
              <a:rPr lang="en-US" sz="1200" dirty="0">
                <a:solidFill>
                  <a:srgbClr val="EAF3F7"/>
                </a:solidFill>
                <a:latin typeface="Calibri" pitchFamily="34" charset="0"/>
                <a:ea typeface="Calibri" pitchFamily="34" charset="-122"/>
                <a:cs typeface="Calibri" pitchFamily="34" charset="-120"/>
              </a:rPr>
              <a:t>No platform diagnoses AI authority and provides the PR workflow to improve it - strategy, content, media intelligence, comms planning and a measurement loop in one system, at a mid-market price. And, no platform delivers AIO by aligning earned media and owned channels to maximise visibility.</a:t>
            </a:r>
            <a:endParaRPr lang="en-US" sz="1200" dirty="0"/>
          </a:p>
        </p:txBody>
      </p:sp>
      <p:sp>
        <p:nvSpPr>
          <p:cNvPr id="24" name="Shape 20"/>
          <p:cNvSpPr/>
          <p:nvPr/>
        </p:nvSpPr>
        <p:spPr>
          <a:xfrm>
            <a:off x="8375904" y="5230368"/>
            <a:ext cx="3017520" cy="0"/>
          </a:xfrm>
          <a:prstGeom prst="line">
            <a:avLst/>
          </a:prstGeom>
          <a:noFill/>
          <a:ln w="12700">
            <a:solidFill>
              <a:srgbClr val="4A93B4"/>
            </a:solidFill>
            <a:prstDash val="solid"/>
          </a:ln>
        </p:spPr>
        <p:txBody>
          <a:bodyPr/>
          <a:lstStyle/>
          <a:p>
            <a:endParaRPr lang="en-GB" dirty="0"/>
          </a:p>
        </p:txBody>
      </p:sp>
      <p:sp>
        <p:nvSpPr>
          <p:cNvPr id="25" name="Text 21"/>
          <p:cNvSpPr/>
          <p:nvPr/>
        </p:nvSpPr>
        <p:spPr>
          <a:xfrm>
            <a:off x="8375904" y="5303520"/>
            <a:ext cx="3017520" cy="502920"/>
          </a:xfrm>
          <a:prstGeom prst="rect">
            <a:avLst/>
          </a:prstGeom>
          <a:noFill/>
          <a:ln/>
        </p:spPr>
        <p:txBody>
          <a:bodyPr wrap="square" lIns="0" tIns="0" rIns="0" bIns="0" rtlCol="0" anchor="ctr"/>
          <a:lstStyle/>
          <a:p>
            <a:pPr marL="0" indent="0">
              <a:lnSpc>
                <a:spcPct val="100000"/>
              </a:lnSpc>
              <a:buNone/>
            </a:pPr>
            <a:r>
              <a:rPr lang="en-US" sz="1050" b="1" i="1" dirty="0">
                <a:solidFill>
                  <a:srgbClr val="FFFFFF"/>
                </a:solidFill>
                <a:latin typeface="Calibri" pitchFamily="34" charset="0"/>
                <a:ea typeface="Calibri" pitchFamily="34" charset="-122"/>
                <a:cs typeface="Calibri" pitchFamily="34" charset="-120"/>
              </a:rPr>
              <a:t>The category gap — AIO Fusion's founding thesis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indent="0" algn="l">
              <a:buNone/>
            </a:pPr>
            <a:r>
              <a:rPr lang="en-US" sz="1150" b="1" kern="0" spc="250" dirty="0">
                <a:solidFill>
                  <a:srgbClr val="1B7EA6"/>
                </a:solidFill>
                <a:latin typeface="Calibri" pitchFamily="34" charset="0"/>
                <a:ea typeface="Calibri" pitchFamily="34" charset="-122"/>
                <a:cs typeface="Calibri" pitchFamily="34" charset="-120"/>
              </a:rPr>
              <a:t>THE INSIGHT</a:t>
            </a:r>
            <a:endParaRPr lang="en-US" sz="1150" dirty="0"/>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indent="0" algn="l">
              <a:lnSpc>
                <a:spcPct val="98000"/>
              </a:lnSpc>
              <a:buNone/>
            </a:pPr>
            <a:r>
              <a:rPr lang="en-US" sz="2700" b="1" dirty="0">
                <a:solidFill>
                  <a:srgbClr val="0E2841"/>
                </a:solidFill>
                <a:latin typeface="Calibri" pitchFamily="34" charset="0"/>
                <a:ea typeface="Calibri" pitchFamily="34" charset="-122"/>
                <a:cs typeface="Calibri" pitchFamily="34" charset="-120"/>
              </a:rPr>
              <a:t>Our platform is the foundation for agentic operations</a:t>
            </a:r>
            <a:endParaRPr lang="en-US" sz="2700" dirty="0"/>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indent="0">
              <a:buNone/>
            </a:pPr>
            <a:r>
              <a:rPr lang="en-US" sz="800" dirty="0">
                <a:solidFill>
                  <a:srgbClr val="5E7180"/>
                </a:solidFill>
                <a:latin typeface="Calibri" pitchFamily="34" charset="0"/>
                <a:ea typeface="Calibri" pitchFamily="34" charset="-122"/>
                <a:cs typeface="Calibri" pitchFamily="34" charset="-120"/>
              </a:rPr>
              <a:t>AIO Fusion Ltd   ·   Pre-Seed Investment Round   ·   June 2026   ·   Confidential</a:t>
            </a:r>
            <a:endParaRPr lang="en-US" sz="800" dirty="0"/>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indent="0" algn="r">
              <a:buNone/>
            </a:pPr>
            <a:r>
              <a:rPr lang="en-US" sz="800" dirty="0">
                <a:solidFill>
                  <a:srgbClr val="5E7180"/>
                </a:solidFill>
                <a:latin typeface="Calibri" pitchFamily="34" charset="0"/>
                <a:ea typeface="Calibri" pitchFamily="34" charset="-122"/>
                <a:cs typeface="Calibri" pitchFamily="34" charset="-120"/>
              </a:rPr>
              <a:t>04</a:t>
            </a:r>
            <a:endParaRPr lang="en-US" sz="800" dirty="0"/>
          </a:p>
        </p:txBody>
      </p:sp>
      <p:sp>
        <p:nvSpPr>
          <p:cNvPr id="8" name="Text 4"/>
          <p:cNvSpPr/>
          <p:nvPr/>
        </p:nvSpPr>
        <p:spPr>
          <a:xfrm>
            <a:off x="566928" y="1783080"/>
            <a:ext cx="5074920" cy="1234440"/>
          </a:xfrm>
          <a:prstGeom prst="rect">
            <a:avLst/>
          </a:prstGeom>
          <a:noFill/>
          <a:ln/>
        </p:spPr>
        <p:txBody>
          <a:bodyPr wrap="square" lIns="0" tIns="0" rIns="0" bIns="0" rtlCol="0" anchor="t"/>
          <a:lstStyle/>
          <a:p>
            <a:pPr marL="0" indent="0">
              <a:lnSpc>
                <a:spcPct val="118000"/>
              </a:lnSpc>
              <a:buNone/>
            </a:pPr>
            <a:r>
              <a:rPr lang="en-US" sz="1450" dirty="0">
                <a:solidFill>
                  <a:srgbClr val="0E2841"/>
                </a:solidFill>
                <a:latin typeface="Calibri" pitchFamily="34" charset="0"/>
                <a:ea typeface="Calibri" pitchFamily="34" charset="-122"/>
                <a:cs typeface="Calibri" pitchFamily="34" charset="-120"/>
              </a:rPr>
              <a:t>AIO Fusion is transformative because we have looked further down the path that AI is taking. The result is a PR operating model for the future delivering multiple commercial benefits in one proposition. And we’re enabling in-house teams and digital agencies to address PR effectively for the first time.</a:t>
            </a:r>
          </a:p>
          <a:p>
            <a:pPr marL="0" indent="0">
              <a:lnSpc>
                <a:spcPct val="118000"/>
              </a:lnSpc>
              <a:buNone/>
            </a:pPr>
            <a:endParaRPr lang="en-US" sz="1450" dirty="0"/>
          </a:p>
        </p:txBody>
      </p:sp>
      <p:sp>
        <p:nvSpPr>
          <p:cNvPr id="9" name="Shape 5"/>
          <p:cNvSpPr/>
          <p:nvPr/>
        </p:nvSpPr>
        <p:spPr>
          <a:xfrm>
            <a:off x="576072" y="3296692"/>
            <a:ext cx="5074920" cy="2697480"/>
          </a:xfrm>
          <a:prstGeom prst="roundRect">
            <a:avLst>
              <a:gd name="adj" fmla="val 2034"/>
            </a:avLst>
          </a:prstGeom>
          <a:solidFill>
            <a:srgbClr val="1B7EA6"/>
          </a:solidFill>
          <a:ln w="12700">
            <a:solidFill>
              <a:srgbClr val="1B7EA6"/>
            </a:solidFill>
            <a:prstDash val="solid"/>
          </a:ln>
          <a:effectLst>
            <a:outerShdw blurRad="76200" dist="25400" dir="5400000" algn="bl" rotWithShape="0">
              <a:srgbClr val="0E2841">
                <a:alpha val="7000"/>
              </a:srgbClr>
            </a:outerShdw>
          </a:effectLst>
        </p:spPr>
        <p:txBody>
          <a:bodyPr/>
          <a:lstStyle/>
          <a:p>
            <a:endParaRPr lang="en-GB" dirty="0"/>
          </a:p>
        </p:txBody>
      </p:sp>
      <p:sp>
        <p:nvSpPr>
          <p:cNvPr id="11" name="Text 7"/>
          <p:cNvSpPr/>
          <p:nvPr/>
        </p:nvSpPr>
        <p:spPr>
          <a:xfrm>
            <a:off x="888181" y="3571945"/>
            <a:ext cx="4450702" cy="1417320"/>
          </a:xfrm>
          <a:prstGeom prst="rect">
            <a:avLst/>
          </a:prstGeom>
          <a:noFill/>
          <a:ln/>
        </p:spPr>
        <p:txBody>
          <a:bodyPr wrap="square" lIns="0" tIns="0" rIns="0" bIns="0" rtlCol="0" anchor="t"/>
          <a:lstStyle/>
          <a:p>
            <a:pPr marL="342900" indent="-342900">
              <a:lnSpc>
                <a:spcPct val="112000"/>
              </a:lnSpc>
              <a:buFont typeface="+mj-lt"/>
              <a:buAutoNum type="arabicPeriod"/>
            </a:pPr>
            <a:r>
              <a:rPr lang="en-US" b="1" dirty="0">
                <a:solidFill>
                  <a:srgbClr val="FFFFFF"/>
                </a:solidFill>
                <a:latin typeface="Calibri" pitchFamily="34" charset="0"/>
                <a:ea typeface="Calibri" pitchFamily="34" charset="-122"/>
                <a:cs typeface="Calibri" pitchFamily="34" charset="-120"/>
              </a:rPr>
              <a:t>New GEO service lines for PR agencies – our platform will add to the bottom line.</a:t>
            </a:r>
          </a:p>
          <a:p>
            <a:pPr marL="342900" indent="-342900">
              <a:lnSpc>
                <a:spcPct val="112000"/>
              </a:lnSpc>
              <a:buFont typeface="+mj-lt"/>
              <a:buAutoNum type="arabicPeriod"/>
            </a:pPr>
            <a:r>
              <a:rPr lang="en-US" b="1" dirty="0">
                <a:solidFill>
                  <a:srgbClr val="FFFFFF"/>
                </a:solidFill>
                <a:latin typeface="Calibri" pitchFamily="34" charset="0"/>
                <a:ea typeface="Calibri" pitchFamily="34" charset="-122"/>
                <a:cs typeface="Calibri" pitchFamily="34" charset="-120"/>
              </a:rPr>
              <a:t>Enhanced sales and marketing performance – supporting PR and marketing ROI.</a:t>
            </a:r>
          </a:p>
          <a:p>
            <a:pPr marL="342900" indent="-342900">
              <a:lnSpc>
                <a:spcPct val="112000"/>
              </a:lnSpc>
              <a:buFont typeface="+mj-lt"/>
              <a:buAutoNum type="arabicPeriod"/>
            </a:pPr>
            <a:r>
              <a:rPr lang="en-US" b="1" dirty="0">
                <a:solidFill>
                  <a:srgbClr val="FFFFFF"/>
                </a:solidFill>
                <a:latin typeface="Calibri" pitchFamily="34" charset="0"/>
                <a:ea typeface="Calibri" pitchFamily="34" charset="-122"/>
                <a:cs typeface="Calibri" pitchFamily="34" charset="-120"/>
              </a:rPr>
              <a:t>Elevating the human role while creating cost savings.</a:t>
            </a:r>
          </a:p>
          <a:p>
            <a:pPr marL="0" indent="0">
              <a:lnSpc>
                <a:spcPct val="112000"/>
              </a:lnSpc>
              <a:buNone/>
            </a:pPr>
            <a:endParaRPr lang="en-US" sz="1650" dirty="0"/>
          </a:p>
        </p:txBody>
      </p:sp>
      <p:sp>
        <p:nvSpPr>
          <p:cNvPr id="13" name="Shape 9"/>
          <p:cNvSpPr/>
          <p:nvPr/>
        </p:nvSpPr>
        <p:spPr>
          <a:xfrm>
            <a:off x="6007608" y="1819656"/>
            <a:ext cx="64008" cy="932688"/>
          </a:xfrm>
          <a:prstGeom prst="rect">
            <a:avLst/>
          </a:prstGeom>
          <a:solidFill>
            <a:srgbClr val="1B7EA6"/>
          </a:solidFill>
          <a:ln/>
        </p:spPr>
        <p:txBody>
          <a:bodyPr/>
          <a:lstStyle/>
          <a:p>
            <a:endParaRPr lang="en-GB" dirty="0"/>
          </a:p>
        </p:txBody>
      </p:sp>
      <p:sp>
        <p:nvSpPr>
          <p:cNvPr id="14" name="Text 10"/>
          <p:cNvSpPr/>
          <p:nvPr/>
        </p:nvSpPr>
        <p:spPr>
          <a:xfrm>
            <a:off x="6227064" y="1783080"/>
            <a:ext cx="5397703" cy="310896"/>
          </a:xfrm>
          <a:prstGeom prst="rect">
            <a:avLst/>
          </a:prstGeom>
          <a:noFill/>
          <a:ln/>
        </p:spPr>
        <p:txBody>
          <a:bodyPr wrap="square" lIns="0" tIns="0" rIns="0" bIns="0" rtlCol="0" anchor="ctr"/>
          <a:lstStyle/>
          <a:p>
            <a:pPr marL="0" indent="0">
              <a:buNone/>
            </a:pPr>
            <a:r>
              <a:rPr lang="en-US" sz="1450" b="1" dirty="0">
                <a:solidFill>
                  <a:srgbClr val="0E2841"/>
                </a:solidFill>
                <a:latin typeface="Calibri" pitchFamily="34" charset="0"/>
                <a:ea typeface="Calibri" pitchFamily="34" charset="-122"/>
                <a:cs typeface="Calibri" pitchFamily="34" charset="-120"/>
              </a:rPr>
              <a:t>The direction of travel for PR is clear</a:t>
            </a:r>
            <a:endParaRPr lang="en-US" sz="1450" dirty="0"/>
          </a:p>
        </p:txBody>
      </p:sp>
      <p:sp>
        <p:nvSpPr>
          <p:cNvPr id="15" name="Text 11"/>
          <p:cNvSpPr/>
          <p:nvPr/>
        </p:nvSpPr>
        <p:spPr>
          <a:xfrm>
            <a:off x="6227064" y="2093976"/>
            <a:ext cx="5397703" cy="676656"/>
          </a:xfrm>
          <a:prstGeom prst="rect">
            <a:avLst/>
          </a:prstGeom>
          <a:noFill/>
          <a:ln/>
        </p:spPr>
        <p:txBody>
          <a:bodyPr wrap="square" lIns="0" tIns="0" rIns="0" bIns="0" rtlCol="0" anchor="t"/>
          <a:lstStyle/>
          <a:p>
            <a:pPr marL="0" indent="0">
              <a:lnSpc>
                <a:spcPct val="108000"/>
              </a:lnSpc>
              <a:buNone/>
            </a:pPr>
            <a:r>
              <a:rPr lang="en-US" sz="1150" dirty="0">
                <a:solidFill>
                  <a:srgbClr val="5E7180"/>
                </a:solidFill>
                <a:latin typeface="Calibri" pitchFamily="34" charset="0"/>
                <a:ea typeface="Calibri" pitchFamily="34" charset="-122"/>
                <a:cs typeface="Calibri" pitchFamily="34" charset="-120"/>
              </a:rPr>
              <a:t>LLMs rank editorial sources such as journalism, industry rankings, expert commentary and analyst reports as authoritative precisely because the brand didn't create them. AIO is a vital new opportunity for PR.</a:t>
            </a:r>
            <a:endParaRPr lang="en-US" sz="1150" dirty="0"/>
          </a:p>
        </p:txBody>
      </p:sp>
      <p:sp>
        <p:nvSpPr>
          <p:cNvPr id="16" name="Shape 12"/>
          <p:cNvSpPr/>
          <p:nvPr/>
        </p:nvSpPr>
        <p:spPr>
          <a:xfrm>
            <a:off x="6007608" y="2916936"/>
            <a:ext cx="64008" cy="932688"/>
          </a:xfrm>
          <a:prstGeom prst="rect">
            <a:avLst/>
          </a:prstGeom>
          <a:solidFill>
            <a:srgbClr val="1B7EA6"/>
          </a:solidFill>
          <a:ln/>
        </p:spPr>
        <p:txBody>
          <a:bodyPr/>
          <a:lstStyle/>
          <a:p>
            <a:endParaRPr lang="en-GB" dirty="0"/>
          </a:p>
        </p:txBody>
      </p:sp>
      <p:sp>
        <p:nvSpPr>
          <p:cNvPr id="17" name="Text 13"/>
          <p:cNvSpPr/>
          <p:nvPr/>
        </p:nvSpPr>
        <p:spPr>
          <a:xfrm>
            <a:off x="6227064" y="2880360"/>
            <a:ext cx="5397703" cy="310896"/>
          </a:xfrm>
          <a:prstGeom prst="rect">
            <a:avLst/>
          </a:prstGeom>
          <a:noFill/>
          <a:ln/>
        </p:spPr>
        <p:txBody>
          <a:bodyPr wrap="square" lIns="0" tIns="0" rIns="0" bIns="0" rtlCol="0" anchor="ctr"/>
          <a:lstStyle/>
          <a:p>
            <a:pPr marL="0" indent="0">
              <a:buNone/>
            </a:pPr>
            <a:r>
              <a:rPr lang="en-US" sz="1450" b="1" dirty="0">
                <a:solidFill>
                  <a:srgbClr val="0E2841"/>
                </a:solidFill>
                <a:latin typeface="Calibri" pitchFamily="34" charset="0"/>
                <a:ea typeface="Calibri" pitchFamily="34" charset="-122"/>
                <a:cs typeface="Calibri" pitchFamily="34" charset="-120"/>
              </a:rPr>
              <a:t>Website AIO can't move the needle alone</a:t>
            </a:r>
            <a:endParaRPr lang="en-US" sz="1450" dirty="0"/>
          </a:p>
        </p:txBody>
      </p:sp>
      <p:sp>
        <p:nvSpPr>
          <p:cNvPr id="18" name="Text 14"/>
          <p:cNvSpPr/>
          <p:nvPr/>
        </p:nvSpPr>
        <p:spPr>
          <a:xfrm>
            <a:off x="6227064" y="3191256"/>
            <a:ext cx="5397703" cy="676656"/>
          </a:xfrm>
          <a:prstGeom prst="rect">
            <a:avLst/>
          </a:prstGeom>
          <a:noFill/>
          <a:ln/>
        </p:spPr>
        <p:txBody>
          <a:bodyPr wrap="square" lIns="0" tIns="0" rIns="0" bIns="0" rtlCol="0" anchor="t"/>
          <a:lstStyle/>
          <a:p>
            <a:pPr marL="0" indent="0">
              <a:lnSpc>
                <a:spcPct val="108000"/>
              </a:lnSpc>
              <a:buNone/>
            </a:pPr>
            <a:r>
              <a:rPr lang="en-US" sz="1150" dirty="0">
                <a:solidFill>
                  <a:srgbClr val="5E7180"/>
                </a:solidFill>
                <a:latin typeface="Calibri" pitchFamily="34" charset="0"/>
                <a:ea typeface="Calibri" pitchFamily="34" charset="-122"/>
                <a:cs typeface="Calibri" pitchFamily="34" charset="-120"/>
              </a:rPr>
              <a:t>A fully optimised website has minimal impact on what ChatGPT or Perplexity say about a business. Only earned coverage changes AI answers. This means SEO/AIO must address the earned media challenge.</a:t>
            </a:r>
            <a:endParaRPr lang="en-US" sz="1150" dirty="0"/>
          </a:p>
        </p:txBody>
      </p:sp>
      <p:sp>
        <p:nvSpPr>
          <p:cNvPr id="19" name="Shape 15"/>
          <p:cNvSpPr/>
          <p:nvPr/>
        </p:nvSpPr>
        <p:spPr>
          <a:xfrm>
            <a:off x="6007608" y="4014216"/>
            <a:ext cx="64008" cy="932688"/>
          </a:xfrm>
          <a:prstGeom prst="rect">
            <a:avLst/>
          </a:prstGeom>
          <a:solidFill>
            <a:srgbClr val="1B7EA6"/>
          </a:solidFill>
          <a:ln/>
        </p:spPr>
        <p:txBody>
          <a:bodyPr/>
          <a:lstStyle/>
          <a:p>
            <a:endParaRPr lang="en-GB" dirty="0"/>
          </a:p>
        </p:txBody>
      </p:sp>
      <p:sp>
        <p:nvSpPr>
          <p:cNvPr id="20" name="Text 16"/>
          <p:cNvSpPr/>
          <p:nvPr/>
        </p:nvSpPr>
        <p:spPr>
          <a:xfrm>
            <a:off x="6227064" y="3977640"/>
            <a:ext cx="5397703" cy="310896"/>
          </a:xfrm>
          <a:prstGeom prst="rect">
            <a:avLst/>
          </a:prstGeom>
          <a:noFill/>
          <a:ln/>
        </p:spPr>
        <p:txBody>
          <a:bodyPr wrap="square" lIns="0" tIns="0" rIns="0" bIns="0" rtlCol="0" anchor="ctr"/>
          <a:lstStyle/>
          <a:p>
            <a:pPr marL="0" indent="0">
              <a:buNone/>
            </a:pPr>
            <a:r>
              <a:rPr lang="en-US" sz="1450" b="1" dirty="0">
                <a:solidFill>
                  <a:srgbClr val="0E2841"/>
                </a:solidFill>
                <a:latin typeface="Calibri" pitchFamily="34" charset="0"/>
                <a:ea typeface="Calibri" pitchFamily="34" charset="-122"/>
                <a:cs typeface="Calibri" pitchFamily="34" charset="-120"/>
              </a:rPr>
              <a:t>Autonomous agents need rails</a:t>
            </a:r>
            <a:endParaRPr lang="en-US" sz="1450" dirty="0"/>
          </a:p>
        </p:txBody>
      </p:sp>
      <p:sp>
        <p:nvSpPr>
          <p:cNvPr id="21" name="Text 17"/>
          <p:cNvSpPr/>
          <p:nvPr/>
        </p:nvSpPr>
        <p:spPr>
          <a:xfrm>
            <a:off x="6227064" y="4288536"/>
            <a:ext cx="5397703" cy="676656"/>
          </a:xfrm>
          <a:prstGeom prst="rect">
            <a:avLst/>
          </a:prstGeom>
          <a:noFill/>
          <a:ln/>
        </p:spPr>
        <p:txBody>
          <a:bodyPr wrap="square" lIns="0" tIns="0" rIns="0" bIns="0" rtlCol="0" anchor="t"/>
          <a:lstStyle/>
          <a:p>
            <a:pPr marL="0" indent="0">
              <a:lnSpc>
                <a:spcPct val="108000"/>
              </a:lnSpc>
              <a:buNone/>
            </a:pPr>
            <a:endParaRPr lang="en-US" sz="1150" dirty="0"/>
          </a:p>
        </p:txBody>
      </p:sp>
      <p:sp>
        <p:nvSpPr>
          <p:cNvPr id="22" name="Shape 18"/>
          <p:cNvSpPr/>
          <p:nvPr/>
        </p:nvSpPr>
        <p:spPr>
          <a:xfrm>
            <a:off x="6007608" y="5111496"/>
            <a:ext cx="64008" cy="932688"/>
          </a:xfrm>
          <a:prstGeom prst="rect">
            <a:avLst/>
          </a:prstGeom>
          <a:solidFill>
            <a:srgbClr val="1B7EA6"/>
          </a:solidFill>
          <a:ln/>
        </p:spPr>
        <p:txBody>
          <a:bodyPr/>
          <a:lstStyle/>
          <a:p>
            <a:endParaRPr lang="en-GB" dirty="0"/>
          </a:p>
        </p:txBody>
      </p:sp>
      <p:sp>
        <p:nvSpPr>
          <p:cNvPr id="23" name="Text 19"/>
          <p:cNvSpPr/>
          <p:nvPr/>
        </p:nvSpPr>
        <p:spPr>
          <a:xfrm>
            <a:off x="6227064" y="5074920"/>
            <a:ext cx="5397703" cy="310896"/>
          </a:xfrm>
          <a:prstGeom prst="rect">
            <a:avLst/>
          </a:prstGeom>
          <a:noFill/>
          <a:ln/>
        </p:spPr>
        <p:txBody>
          <a:bodyPr wrap="square" lIns="0" tIns="0" rIns="0" bIns="0" rtlCol="0" anchor="ctr"/>
          <a:lstStyle/>
          <a:p>
            <a:pPr marL="0" indent="0">
              <a:buNone/>
            </a:pPr>
            <a:r>
              <a:rPr lang="en-US" sz="1450" b="1" dirty="0">
                <a:solidFill>
                  <a:srgbClr val="0E2841"/>
                </a:solidFill>
                <a:latin typeface="Calibri" pitchFamily="34" charset="0"/>
                <a:ea typeface="Calibri" pitchFamily="34" charset="-122"/>
                <a:cs typeface="Calibri" pitchFamily="34" charset="-120"/>
              </a:rPr>
              <a:t>The Agentic AIO loop</a:t>
            </a:r>
            <a:endParaRPr lang="en-US" sz="1450" dirty="0"/>
          </a:p>
        </p:txBody>
      </p:sp>
      <p:sp>
        <p:nvSpPr>
          <p:cNvPr id="24" name="Text 20"/>
          <p:cNvSpPr/>
          <p:nvPr/>
        </p:nvSpPr>
        <p:spPr>
          <a:xfrm>
            <a:off x="6227064" y="5385816"/>
            <a:ext cx="5397703" cy="676656"/>
          </a:xfrm>
          <a:prstGeom prst="rect">
            <a:avLst/>
          </a:prstGeom>
          <a:noFill/>
          <a:ln/>
        </p:spPr>
        <p:txBody>
          <a:bodyPr wrap="square" lIns="0" tIns="0" rIns="0" bIns="0" rtlCol="0" anchor="t"/>
          <a:lstStyle/>
          <a:p>
            <a:pPr marL="0" indent="0">
              <a:lnSpc>
                <a:spcPct val="108000"/>
              </a:lnSpc>
              <a:buNone/>
            </a:pPr>
            <a:r>
              <a:rPr lang="en-US" sz="1150" dirty="0">
                <a:solidFill>
                  <a:srgbClr val="5E7180"/>
                </a:solidFill>
                <a:latin typeface="Calibri" pitchFamily="34" charset="0"/>
                <a:ea typeface="Calibri" pitchFamily="34" charset="-122"/>
                <a:cs typeface="Calibri" pitchFamily="34" charset="-120"/>
              </a:rPr>
              <a:t>AIO Fusion offers the whole piece. It audits where earned media drives citations, plans the comms to close gaps, creates content, facilitates campaign intelligence and measures impact. Our Agentic Layer offers the opportunity to accelerate operations and performance.</a:t>
            </a:r>
            <a:endParaRPr lang="en-US" sz="1150" dirty="0"/>
          </a:p>
        </p:txBody>
      </p:sp>
      <p:sp>
        <p:nvSpPr>
          <p:cNvPr id="25" name="Text 14">
            <a:extLst>
              <a:ext uri="{FF2B5EF4-FFF2-40B4-BE49-F238E27FC236}">
                <a16:creationId xmlns:a16="http://schemas.microsoft.com/office/drawing/2014/main" id="{14F45C03-BCDC-BEF3-9477-EFBC3B58EBD4}"/>
              </a:ext>
            </a:extLst>
          </p:cNvPr>
          <p:cNvSpPr/>
          <p:nvPr/>
        </p:nvSpPr>
        <p:spPr>
          <a:xfrm>
            <a:off x="6218225" y="4286203"/>
            <a:ext cx="5397703" cy="676656"/>
          </a:xfrm>
          <a:prstGeom prst="rect">
            <a:avLst/>
          </a:prstGeom>
          <a:noFill/>
          <a:ln/>
        </p:spPr>
        <p:txBody>
          <a:bodyPr wrap="square" lIns="0" tIns="0" rIns="0" bIns="0" rtlCol="0" anchor="t"/>
          <a:lstStyle/>
          <a:p>
            <a:pPr marL="0" indent="0">
              <a:lnSpc>
                <a:spcPct val="108000"/>
              </a:lnSpc>
              <a:buNone/>
            </a:pPr>
            <a:r>
              <a:rPr lang="en-US" sz="1150" dirty="0">
                <a:solidFill>
                  <a:srgbClr val="5E7180"/>
                </a:solidFill>
                <a:latin typeface="Calibri" pitchFamily="34" charset="0"/>
                <a:ea typeface="Calibri" pitchFamily="34" charset="-122"/>
                <a:cs typeface="Calibri" pitchFamily="34" charset="-120"/>
              </a:rPr>
              <a:t>AIO and PR operations will be run by Level 4 autonomous agents – semi-autonomous entities taught to run projects within a rules-based eco-system. Our platform creates the foundations for them to deliver human and machine-facing performance.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indent="0" algn="l">
              <a:buNone/>
            </a:pPr>
            <a:r>
              <a:rPr lang="en-US" sz="1150" b="1" kern="0" spc="250" dirty="0">
                <a:solidFill>
                  <a:srgbClr val="1B7EA6"/>
                </a:solidFill>
                <a:latin typeface="Calibri" pitchFamily="34" charset="0"/>
                <a:ea typeface="Calibri" pitchFamily="34" charset="-122"/>
                <a:cs typeface="Calibri" pitchFamily="34" charset="-120"/>
              </a:rPr>
              <a:t>THE SOLUTION</a:t>
            </a:r>
            <a:endParaRPr lang="en-US" sz="1150" dirty="0"/>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indent="0" algn="l">
              <a:lnSpc>
                <a:spcPct val="98000"/>
              </a:lnSpc>
              <a:buNone/>
            </a:pPr>
            <a:r>
              <a:rPr lang="en-US" sz="2700" b="1" dirty="0">
                <a:solidFill>
                  <a:srgbClr val="0E2841"/>
                </a:solidFill>
                <a:latin typeface="Calibri" pitchFamily="34" charset="0"/>
                <a:ea typeface="Calibri" pitchFamily="34" charset="-122"/>
                <a:cs typeface="Calibri" pitchFamily="34" charset="-120"/>
              </a:rPr>
              <a:t>AIO Fusion — the only integrated AI authority &amp; PR platform.</a:t>
            </a:r>
            <a:endParaRPr lang="en-US" sz="2700" dirty="0"/>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indent="0">
              <a:buNone/>
            </a:pPr>
            <a:r>
              <a:rPr lang="en-US" sz="800" dirty="0">
                <a:solidFill>
                  <a:srgbClr val="5E7180"/>
                </a:solidFill>
                <a:latin typeface="Calibri" pitchFamily="34" charset="0"/>
                <a:ea typeface="Calibri" pitchFamily="34" charset="-122"/>
                <a:cs typeface="Calibri" pitchFamily="34" charset="-120"/>
              </a:rPr>
              <a:t>AIO Fusion Ltd   ·   Pre-Seed Investment Round   ·   June 2026   ·   Confidential</a:t>
            </a:r>
            <a:endParaRPr lang="en-US" sz="800" dirty="0"/>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indent="0" algn="r">
              <a:buNone/>
            </a:pPr>
            <a:r>
              <a:rPr lang="en-US" sz="800" dirty="0">
                <a:solidFill>
                  <a:srgbClr val="5E7180"/>
                </a:solidFill>
                <a:latin typeface="Calibri" pitchFamily="34" charset="0"/>
                <a:ea typeface="Calibri" pitchFamily="34" charset="-122"/>
                <a:cs typeface="Calibri" pitchFamily="34" charset="-120"/>
              </a:rPr>
              <a:t>05</a:t>
            </a:r>
            <a:endParaRPr lang="en-US" sz="800" dirty="0"/>
          </a:p>
        </p:txBody>
      </p:sp>
      <p:sp>
        <p:nvSpPr>
          <p:cNvPr id="8" name="Shape 4"/>
          <p:cNvSpPr/>
          <p:nvPr/>
        </p:nvSpPr>
        <p:spPr>
          <a:xfrm>
            <a:off x="563728" y="1627632"/>
            <a:ext cx="1993392" cy="457200"/>
          </a:xfrm>
          <a:prstGeom prst="roundRect">
            <a:avLst>
              <a:gd name="adj" fmla="val 50000"/>
            </a:avLst>
          </a:prstGeom>
          <a:solidFill>
            <a:srgbClr val="1B7EA6"/>
          </a:solidFill>
          <a:ln/>
        </p:spPr>
        <p:txBody>
          <a:bodyPr/>
          <a:lstStyle/>
          <a:p>
            <a:endParaRPr lang="en-GB" dirty="0"/>
          </a:p>
        </p:txBody>
      </p:sp>
      <p:sp>
        <p:nvSpPr>
          <p:cNvPr id="9" name="Text 5"/>
          <p:cNvSpPr/>
          <p:nvPr/>
        </p:nvSpPr>
        <p:spPr>
          <a:xfrm>
            <a:off x="563728" y="1627632"/>
            <a:ext cx="1993392" cy="457200"/>
          </a:xfrm>
          <a:prstGeom prst="rect">
            <a:avLst/>
          </a:prstGeom>
          <a:noFill/>
          <a:ln/>
        </p:spPr>
        <p:txBody>
          <a:bodyPr wrap="square" lIns="0" tIns="0" rIns="0" bIns="0" rtlCol="0" anchor="ctr"/>
          <a:lstStyle/>
          <a:p>
            <a:pPr marL="0" indent="0" algn="ctr">
              <a:buNone/>
            </a:pPr>
            <a:r>
              <a:rPr lang="en-US" sz="1300" b="1" kern="0" spc="150" dirty="0">
                <a:solidFill>
                  <a:srgbClr val="FFFFFF"/>
                </a:solidFill>
                <a:latin typeface="Calibri" pitchFamily="34" charset="0"/>
                <a:ea typeface="Calibri" pitchFamily="34" charset="-122"/>
                <a:cs typeface="Calibri" pitchFamily="34" charset="-120"/>
              </a:rPr>
              <a:t>DIAGNOSE</a:t>
            </a:r>
            <a:endParaRPr lang="en-US" sz="1300" dirty="0"/>
          </a:p>
        </p:txBody>
      </p:sp>
      <p:sp>
        <p:nvSpPr>
          <p:cNvPr id="10" name="Text 6"/>
          <p:cNvSpPr/>
          <p:nvPr/>
        </p:nvSpPr>
        <p:spPr>
          <a:xfrm>
            <a:off x="2557120" y="1627632"/>
            <a:ext cx="274320" cy="457200"/>
          </a:xfrm>
          <a:prstGeom prst="rect">
            <a:avLst/>
          </a:prstGeom>
          <a:noFill/>
          <a:ln/>
        </p:spPr>
        <p:txBody>
          <a:bodyPr wrap="square" lIns="0" tIns="0" rIns="0" bIns="0" rtlCol="0" anchor="ctr"/>
          <a:lstStyle/>
          <a:p>
            <a:pPr marL="0" indent="0" algn="ctr">
              <a:buNone/>
            </a:pPr>
            <a:r>
              <a:rPr lang="en-US" sz="2000" b="1" dirty="0">
                <a:solidFill>
                  <a:srgbClr val="1B7EA6"/>
                </a:solidFill>
                <a:latin typeface="Calibri" pitchFamily="34" charset="0"/>
                <a:ea typeface="Calibri" pitchFamily="34" charset="-122"/>
                <a:cs typeface="Calibri" pitchFamily="34" charset="-120"/>
              </a:rPr>
              <a:t>›</a:t>
            </a:r>
            <a:endParaRPr lang="en-US" sz="2000" dirty="0"/>
          </a:p>
        </p:txBody>
      </p:sp>
      <p:sp>
        <p:nvSpPr>
          <p:cNvPr id="11" name="Shape 7"/>
          <p:cNvSpPr/>
          <p:nvPr/>
        </p:nvSpPr>
        <p:spPr>
          <a:xfrm>
            <a:off x="2831440" y="1627632"/>
            <a:ext cx="1993392" cy="457200"/>
          </a:xfrm>
          <a:prstGeom prst="roundRect">
            <a:avLst>
              <a:gd name="adj" fmla="val 50000"/>
            </a:avLst>
          </a:prstGeom>
          <a:solidFill>
            <a:srgbClr val="12536E"/>
          </a:solidFill>
          <a:ln/>
        </p:spPr>
        <p:txBody>
          <a:bodyPr/>
          <a:lstStyle/>
          <a:p>
            <a:endParaRPr lang="en-GB" dirty="0"/>
          </a:p>
        </p:txBody>
      </p:sp>
      <p:sp>
        <p:nvSpPr>
          <p:cNvPr id="12" name="Text 8"/>
          <p:cNvSpPr/>
          <p:nvPr/>
        </p:nvSpPr>
        <p:spPr>
          <a:xfrm>
            <a:off x="2831440" y="1627632"/>
            <a:ext cx="1993392" cy="457200"/>
          </a:xfrm>
          <a:prstGeom prst="rect">
            <a:avLst/>
          </a:prstGeom>
          <a:noFill/>
          <a:ln/>
        </p:spPr>
        <p:txBody>
          <a:bodyPr wrap="square" lIns="0" tIns="0" rIns="0" bIns="0" rtlCol="0" anchor="ctr"/>
          <a:lstStyle/>
          <a:p>
            <a:pPr marL="0" indent="0" algn="ctr">
              <a:buNone/>
            </a:pPr>
            <a:r>
              <a:rPr lang="en-US" sz="1300" b="1" kern="0" spc="150" dirty="0">
                <a:solidFill>
                  <a:srgbClr val="FFFFFF"/>
                </a:solidFill>
                <a:latin typeface="Calibri" pitchFamily="34" charset="0"/>
                <a:ea typeface="Calibri" pitchFamily="34" charset="-122"/>
                <a:cs typeface="Calibri" pitchFamily="34" charset="-120"/>
              </a:rPr>
              <a:t>PLAN</a:t>
            </a:r>
            <a:endParaRPr lang="en-US" sz="1300" dirty="0"/>
          </a:p>
        </p:txBody>
      </p:sp>
      <p:sp>
        <p:nvSpPr>
          <p:cNvPr id="13" name="Text 9"/>
          <p:cNvSpPr/>
          <p:nvPr/>
        </p:nvSpPr>
        <p:spPr>
          <a:xfrm>
            <a:off x="4824832" y="1627632"/>
            <a:ext cx="274320" cy="457200"/>
          </a:xfrm>
          <a:prstGeom prst="rect">
            <a:avLst/>
          </a:prstGeom>
          <a:noFill/>
          <a:ln/>
        </p:spPr>
        <p:txBody>
          <a:bodyPr wrap="square" lIns="0" tIns="0" rIns="0" bIns="0" rtlCol="0" anchor="ctr"/>
          <a:lstStyle/>
          <a:p>
            <a:pPr marL="0" indent="0" algn="ctr">
              <a:buNone/>
            </a:pPr>
            <a:r>
              <a:rPr lang="en-US" sz="2000" b="1" dirty="0">
                <a:solidFill>
                  <a:srgbClr val="1B7EA6"/>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5099152" y="1627632"/>
            <a:ext cx="1993392" cy="457200"/>
          </a:xfrm>
          <a:prstGeom prst="roundRect">
            <a:avLst>
              <a:gd name="adj" fmla="val 50000"/>
            </a:avLst>
          </a:prstGeom>
          <a:solidFill>
            <a:srgbClr val="1B7EA6"/>
          </a:solidFill>
          <a:ln/>
        </p:spPr>
        <p:txBody>
          <a:bodyPr/>
          <a:lstStyle/>
          <a:p>
            <a:endParaRPr lang="en-GB" dirty="0"/>
          </a:p>
        </p:txBody>
      </p:sp>
      <p:sp>
        <p:nvSpPr>
          <p:cNvPr id="15" name="Text 11"/>
          <p:cNvSpPr/>
          <p:nvPr/>
        </p:nvSpPr>
        <p:spPr>
          <a:xfrm>
            <a:off x="5099152" y="1627632"/>
            <a:ext cx="1993392" cy="457200"/>
          </a:xfrm>
          <a:prstGeom prst="rect">
            <a:avLst/>
          </a:prstGeom>
          <a:noFill/>
          <a:ln/>
        </p:spPr>
        <p:txBody>
          <a:bodyPr wrap="square" lIns="0" tIns="0" rIns="0" bIns="0" rtlCol="0" anchor="ctr"/>
          <a:lstStyle/>
          <a:p>
            <a:pPr marL="0" indent="0" algn="ctr">
              <a:buNone/>
            </a:pPr>
            <a:r>
              <a:rPr lang="en-US" sz="1300" b="1" kern="0" spc="150" dirty="0">
                <a:solidFill>
                  <a:srgbClr val="FFFFFF"/>
                </a:solidFill>
                <a:latin typeface="Calibri" pitchFamily="34" charset="0"/>
                <a:ea typeface="Calibri" pitchFamily="34" charset="-122"/>
                <a:cs typeface="Calibri" pitchFamily="34" charset="-120"/>
              </a:rPr>
              <a:t>CREATE</a:t>
            </a:r>
            <a:endParaRPr lang="en-US" sz="1300" dirty="0"/>
          </a:p>
        </p:txBody>
      </p:sp>
      <p:sp>
        <p:nvSpPr>
          <p:cNvPr id="16" name="Text 12"/>
          <p:cNvSpPr/>
          <p:nvPr/>
        </p:nvSpPr>
        <p:spPr>
          <a:xfrm>
            <a:off x="7092544" y="1627632"/>
            <a:ext cx="274320" cy="457200"/>
          </a:xfrm>
          <a:prstGeom prst="rect">
            <a:avLst/>
          </a:prstGeom>
          <a:noFill/>
          <a:ln/>
        </p:spPr>
        <p:txBody>
          <a:bodyPr wrap="square" lIns="0" tIns="0" rIns="0" bIns="0" rtlCol="0" anchor="ctr"/>
          <a:lstStyle/>
          <a:p>
            <a:pPr marL="0" indent="0" algn="ctr">
              <a:buNone/>
            </a:pPr>
            <a:r>
              <a:rPr lang="en-US" sz="2000" b="1" dirty="0">
                <a:solidFill>
                  <a:srgbClr val="1B7EA6"/>
                </a:solidFill>
                <a:latin typeface="Calibri" pitchFamily="34" charset="0"/>
                <a:ea typeface="Calibri" pitchFamily="34" charset="-122"/>
                <a:cs typeface="Calibri" pitchFamily="34" charset="-120"/>
              </a:rPr>
              <a:t>›</a:t>
            </a:r>
            <a:endParaRPr lang="en-US" sz="2000" dirty="0"/>
          </a:p>
        </p:txBody>
      </p:sp>
      <p:sp>
        <p:nvSpPr>
          <p:cNvPr id="17" name="Shape 13"/>
          <p:cNvSpPr/>
          <p:nvPr/>
        </p:nvSpPr>
        <p:spPr>
          <a:xfrm>
            <a:off x="7366864" y="1627632"/>
            <a:ext cx="1993392" cy="457200"/>
          </a:xfrm>
          <a:prstGeom prst="roundRect">
            <a:avLst>
              <a:gd name="adj" fmla="val 50000"/>
            </a:avLst>
          </a:prstGeom>
          <a:solidFill>
            <a:srgbClr val="12536E"/>
          </a:solidFill>
          <a:ln/>
        </p:spPr>
        <p:txBody>
          <a:bodyPr/>
          <a:lstStyle/>
          <a:p>
            <a:endParaRPr lang="en-GB" dirty="0"/>
          </a:p>
        </p:txBody>
      </p:sp>
      <p:sp>
        <p:nvSpPr>
          <p:cNvPr id="18" name="Text 14"/>
          <p:cNvSpPr/>
          <p:nvPr/>
        </p:nvSpPr>
        <p:spPr>
          <a:xfrm>
            <a:off x="7366864" y="1627632"/>
            <a:ext cx="1993392" cy="457200"/>
          </a:xfrm>
          <a:prstGeom prst="rect">
            <a:avLst/>
          </a:prstGeom>
          <a:noFill/>
          <a:ln/>
        </p:spPr>
        <p:txBody>
          <a:bodyPr wrap="square" lIns="0" tIns="0" rIns="0" bIns="0" rtlCol="0" anchor="ctr"/>
          <a:lstStyle/>
          <a:p>
            <a:pPr marL="0" indent="0" algn="ctr">
              <a:buNone/>
            </a:pPr>
            <a:r>
              <a:rPr lang="en-US" sz="1300" b="1" kern="0" spc="150" dirty="0">
                <a:solidFill>
                  <a:srgbClr val="FFFFFF"/>
                </a:solidFill>
                <a:latin typeface="Calibri" pitchFamily="34" charset="0"/>
                <a:ea typeface="Calibri" pitchFamily="34" charset="-122"/>
                <a:cs typeface="Calibri" pitchFamily="34" charset="-120"/>
              </a:rPr>
              <a:t>DISTRIBUTE</a:t>
            </a:r>
            <a:endParaRPr lang="en-US" sz="1300" dirty="0"/>
          </a:p>
        </p:txBody>
      </p:sp>
      <p:sp>
        <p:nvSpPr>
          <p:cNvPr id="19" name="Text 15"/>
          <p:cNvSpPr/>
          <p:nvPr/>
        </p:nvSpPr>
        <p:spPr>
          <a:xfrm>
            <a:off x="9360256" y="1627632"/>
            <a:ext cx="274320" cy="457200"/>
          </a:xfrm>
          <a:prstGeom prst="rect">
            <a:avLst/>
          </a:prstGeom>
          <a:noFill/>
          <a:ln/>
        </p:spPr>
        <p:txBody>
          <a:bodyPr wrap="square" lIns="0" tIns="0" rIns="0" bIns="0" rtlCol="0" anchor="ctr"/>
          <a:lstStyle/>
          <a:p>
            <a:pPr marL="0" indent="0" algn="ctr">
              <a:buNone/>
            </a:pPr>
            <a:r>
              <a:rPr lang="en-US" sz="2000" b="1" dirty="0">
                <a:solidFill>
                  <a:srgbClr val="1B7EA6"/>
                </a:solidFill>
                <a:latin typeface="Calibri" pitchFamily="34" charset="0"/>
                <a:ea typeface="Calibri" pitchFamily="34" charset="-122"/>
                <a:cs typeface="Calibri" pitchFamily="34" charset="-120"/>
              </a:rPr>
              <a:t>›</a:t>
            </a:r>
            <a:endParaRPr lang="en-US" sz="2000" dirty="0"/>
          </a:p>
        </p:txBody>
      </p:sp>
      <p:sp>
        <p:nvSpPr>
          <p:cNvPr id="20" name="Shape 16"/>
          <p:cNvSpPr/>
          <p:nvPr/>
        </p:nvSpPr>
        <p:spPr>
          <a:xfrm>
            <a:off x="9634576" y="1627632"/>
            <a:ext cx="1993392" cy="457200"/>
          </a:xfrm>
          <a:prstGeom prst="roundRect">
            <a:avLst>
              <a:gd name="adj" fmla="val 50000"/>
            </a:avLst>
          </a:prstGeom>
          <a:solidFill>
            <a:srgbClr val="1B7EA6"/>
          </a:solidFill>
          <a:ln/>
        </p:spPr>
        <p:txBody>
          <a:bodyPr/>
          <a:lstStyle/>
          <a:p>
            <a:endParaRPr lang="en-GB" dirty="0"/>
          </a:p>
        </p:txBody>
      </p:sp>
      <p:sp>
        <p:nvSpPr>
          <p:cNvPr id="21" name="Text 17"/>
          <p:cNvSpPr/>
          <p:nvPr/>
        </p:nvSpPr>
        <p:spPr>
          <a:xfrm>
            <a:off x="9634576" y="1627632"/>
            <a:ext cx="1993392" cy="457200"/>
          </a:xfrm>
          <a:prstGeom prst="rect">
            <a:avLst/>
          </a:prstGeom>
          <a:noFill/>
          <a:ln/>
        </p:spPr>
        <p:txBody>
          <a:bodyPr wrap="square" lIns="0" tIns="0" rIns="0" bIns="0" rtlCol="0" anchor="ctr"/>
          <a:lstStyle/>
          <a:p>
            <a:pPr marL="0" indent="0" algn="ctr">
              <a:buNone/>
            </a:pPr>
            <a:r>
              <a:rPr lang="en-US" sz="1300" b="1" kern="0" spc="150" dirty="0">
                <a:solidFill>
                  <a:srgbClr val="FFFFFF"/>
                </a:solidFill>
                <a:latin typeface="Calibri" pitchFamily="34" charset="0"/>
                <a:ea typeface="Calibri" pitchFamily="34" charset="-122"/>
                <a:cs typeface="Calibri" pitchFamily="34" charset="-120"/>
              </a:rPr>
              <a:t>MEASURE</a:t>
            </a:r>
            <a:endParaRPr lang="en-US" sz="1300" dirty="0"/>
          </a:p>
        </p:txBody>
      </p:sp>
      <p:sp>
        <p:nvSpPr>
          <p:cNvPr id="22" name="Shape 18"/>
          <p:cNvSpPr/>
          <p:nvPr/>
        </p:nvSpPr>
        <p:spPr>
          <a:xfrm>
            <a:off x="566928" y="2331720"/>
            <a:ext cx="6720840" cy="3611880"/>
          </a:xfrm>
          <a:prstGeom prst="roundRect">
            <a:avLst>
              <a:gd name="adj" fmla="val 1519"/>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endParaRPr lang="en-GB" dirty="0"/>
          </a:p>
        </p:txBody>
      </p:sp>
      <p:sp>
        <p:nvSpPr>
          <p:cNvPr id="23" name="Shape 19"/>
          <p:cNvSpPr/>
          <p:nvPr/>
        </p:nvSpPr>
        <p:spPr>
          <a:xfrm>
            <a:off x="566928" y="2331720"/>
            <a:ext cx="6720840" cy="512064"/>
          </a:xfrm>
          <a:prstGeom prst="rect">
            <a:avLst/>
          </a:prstGeom>
          <a:solidFill>
            <a:srgbClr val="1B7EA6"/>
          </a:solidFill>
          <a:ln/>
        </p:spPr>
        <p:txBody>
          <a:bodyPr/>
          <a:lstStyle/>
          <a:p>
            <a:endParaRPr lang="en-GB" dirty="0"/>
          </a:p>
        </p:txBody>
      </p:sp>
      <p:sp>
        <p:nvSpPr>
          <p:cNvPr id="24" name="Text 20"/>
          <p:cNvSpPr/>
          <p:nvPr/>
        </p:nvSpPr>
        <p:spPr>
          <a:xfrm>
            <a:off x="822960" y="2331720"/>
            <a:ext cx="6263640" cy="512064"/>
          </a:xfrm>
          <a:prstGeom prst="rect">
            <a:avLst/>
          </a:prstGeom>
          <a:noFill/>
          <a:ln/>
        </p:spPr>
        <p:txBody>
          <a:bodyPr wrap="square" lIns="0" tIns="0" rIns="0" bIns="0" rtlCol="0" anchor="ctr"/>
          <a:lstStyle/>
          <a:p>
            <a:pPr marL="0" indent="0">
              <a:buNone/>
            </a:pPr>
            <a:r>
              <a:rPr lang="en-US" sz="1300" b="1" kern="0" spc="50" dirty="0">
                <a:solidFill>
                  <a:srgbClr val="FFFFFF"/>
                </a:solidFill>
                <a:latin typeface="Calibri" pitchFamily="34" charset="0"/>
                <a:ea typeface="Calibri" pitchFamily="34" charset="-122"/>
                <a:cs typeface="Calibri" pitchFamily="34" charset="-120"/>
              </a:rPr>
              <a:t>V1  CORE PLATFORM</a:t>
            </a:r>
            <a:r>
              <a:rPr lang="en-US" sz="1050" kern="0" spc="50" dirty="0">
                <a:solidFill>
                  <a:srgbClr val="DCEEF4"/>
                </a:solidFill>
                <a:latin typeface="Calibri" pitchFamily="34" charset="0"/>
                <a:ea typeface="Calibri" pitchFamily="34" charset="-122"/>
                <a:cs typeface="Calibri" pitchFamily="34" charset="-120"/>
              </a:rPr>
              <a:t>    V1 platform operational · Early Access Programme live</a:t>
            </a:r>
            <a:endParaRPr lang="en-US" sz="1300" dirty="0"/>
          </a:p>
        </p:txBody>
      </p:sp>
      <p:sp>
        <p:nvSpPr>
          <p:cNvPr id="25" name="Text 21"/>
          <p:cNvSpPr/>
          <p:nvPr/>
        </p:nvSpPr>
        <p:spPr>
          <a:xfrm>
            <a:off x="841248" y="3044952"/>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Strategy &amp; Audit — AI authority audit + GEO strategy builder</a:t>
            </a:r>
            <a:endParaRPr lang="en-US" sz="1030" dirty="0"/>
          </a:p>
        </p:txBody>
      </p:sp>
      <p:sp>
        <p:nvSpPr>
          <p:cNvPr id="26" name="Text 22"/>
          <p:cNvSpPr/>
          <p:nvPr/>
        </p:nvSpPr>
        <p:spPr>
          <a:xfrm>
            <a:off x="841248" y="3598164"/>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Comms Planner — plan, score &amp; manage PR / content schedules</a:t>
            </a:r>
            <a:endParaRPr lang="en-US" sz="1030" dirty="0"/>
          </a:p>
        </p:txBody>
      </p:sp>
      <p:sp>
        <p:nvSpPr>
          <p:cNvPr id="27" name="Text 23"/>
          <p:cNvSpPr/>
          <p:nvPr/>
        </p:nvSpPr>
        <p:spPr>
          <a:xfrm>
            <a:off x="841248" y="4151376"/>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Content Optimiser &amp; Editor — multi-LLM, on-brand creation</a:t>
            </a:r>
            <a:endParaRPr lang="en-US" sz="1030" dirty="0"/>
          </a:p>
        </p:txBody>
      </p:sp>
      <p:sp>
        <p:nvSpPr>
          <p:cNvPr id="28" name="Text 24"/>
          <p:cNvSpPr/>
          <p:nvPr/>
        </p:nvSpPr>
        <p:spPr>
          <a:xfrm>
            <a:off x="841248" y="4704588"/>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Content Creator — ideation, articles &amp; media-pitch generation</a:t>
            </a:r>
            <a:endParaRPr lang="en-US" sz="1030" dirty="0"/>
          </a:p>
        </p:txBody>
      </p:sp>
      <p:sp>
        <p:nvSpPr>
          <p:cNvPr id="29" name="Text 25"/>
          <p:cNvSpPr/>
          <p:nvPr/>
        </p:nvSpPr>
        <p:spPr>
          <a:xfrm>
            <a:off x="841248" y="5257800"/>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Media Research — AI-recommended journalists &amp; insights</a:t>
            </a:r>
            <a:endParaRPr lang="en-US" sz="1030" dirty="0"/>
          </a:p>
        </p:txBody>
      </p:sp>
      <p:sp>
        <p:nvSpPr>
          <p:cNvPr id="30" name="Text 26"/>
          <p:cNvSpPr/>
          <p:nvPr/>
        </p:nvSpPr>
        <p:spPr>
          <a:xfrm>
            <a:off x="3973068" y="3044952"/>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Measure &amp; Report — PR impact + AI authority growth</a:t>
            </a:r>
            <a:endParaRPr lang="en-US" sz="1030" dirty="0"/>
          </a:p>
        </p:txBody>
      </p:sp>
      <p:sp>
        <p:nvSpPr>
          <p:cNvPr id="31" name="Text 27"/>
          <p:cNvSpPr/>
          <p:nvPr/>
        </p:nvSpPr>
        <p:spPr>
          <a:xfrm>
            <a:off x="3973068" y="3598164"/>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Website Content GEO — on-page optimisation for AI visibility</a:t>
            </a:r>
            <a:endParaRPr lang="en-US" sz="1030" dirty="0"/>
          </a:p>
        </p:txBody>
      </p:sp>
      <p:sp>
        <p:nvSpPr>
          <p:cNvPr id="32" name="Text 28"/>
          <p:cNvSpPr/>
          <p:nvPr/>
        </p:nvSpPr>
        <p:spPr>
          <a:xfrm>
            <a:off x="3973068" y="4151376"/>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Website Technical GEO — back-end AI-authority configuration</a:t>
            </a:r>
            <a:endParaRPr lang="en-US" sz="1030" dirty="0"/>
          </a:p>
        </p:txBody>
      </p:sp>
      <p:sp>
        <p:nvSpPr>
          <p:cNvPr id="33" name="Text 29"/>
          <p:cNvSpPr/>
          <p:nvPr/>
        </p:nvSpPr>
        <p:spPr>
          <a:xfrm>
            <a:off x="3973068" y="4704588"/>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Marketing Intelligence — conference &amp; awards scoring</a:t>
            </a:r>
            <a:endParaRPr lang="en-US" sz="1030" dirty="0"/>
          </a:p>
        </p:txBody>
      </p:sp>
      <p:sp>
        <p:nvSpPr>
          <p:cNvPr id="34" name="Text 30"/>
          <p:cNvSpPr/>
          <p:nvPr/>
        </p:nvSpPr>
        <p:spPr>
          <a:xfrm>
            <a:off x="3973068" y="5257800"/>
            <a:ext cx="2948940" cy="512064"/>
          </a:xfrm>
          <a:prstGeom prst="rect">
            <a:avLst/>
          </a:prstGeom>
          <a:noFill/>
          <a:ln/>
        </p:spPr>
        <p:txBody>
          <a:bodyPr wrap="square" lIns="0" tIns="0" rIns="0" bIns="0" rtlCol="0" anchor="ctr"/>
          <a:lstStyle/>
          <a:p>
            <a:pPr marL="0" indent="0">
              <a:lnSpc>
                <a:spcPct val="96000"/>
              </a:lnSpc>
              <a:buNone/>
            </a:pPr>
            <a:r>
              <a:rPr lang="en-US" sz="1030" b="1" dirty="0">
                <a:solidFill>
                  <a:srgbClr val="1B7EA6"/>
                </a:solidFill>
                <a:latin typeface="Calibri" pitchFamily="34" charset="0"/>
                <a:ea typeface="Calibri" pitchFamily="34" charset="-122"/>
                <a:cs typeface="Calibri" pitchFamily="34" charset="-120"/>
              </a:rPr>
              <a:t>✓ </a:t>
            </a:r>
            <a:r>
              <a:rPr lang="en-US" sz="1030" dirty="0">
                <a:solidFill>
                  <a:srgbClr val="0E2841"/>
                </a:solidFill>
                <a:latin typeface="Calibri" pitchFamily="34" charset="0"/>
                <a:ea typeface="Calibri" pitchFamily="34" charset="-122"/>
                <a:cs typeface="Calibri" pitchFamily="34" charset="-120"/>
              </a:rPr>
              <a:t>Archive — long-term content curation &amp; enhancement</a:t>
            </a:r>
            <a:endParaRPr lang="en-US" sz="1030" dirty="0"/>
          </a:p>
        </p:txBody>
      </p:sp>
      <p:sp>
        <p:nvSpPr>
          <p:cNvPr id="35" name="Shape 31"/>
          <p:cNvSpPr/>
          <p:nvPr/>
        </p:nvSpPr>
        <p:spPr>
          <a:xfrm>
            <a:off x="7589520" y="2331720"/>
            <a:ext cx="4035247" cy="3611880"/>
          </a:xfrm>
          <a:prstGeom prst="roundRect">
            <a:avLst>
              <a:gd name="adj" fmla="val 1519"/>
            </a:avLst>
          </a:prstGeom>
          <a:solidFill>
            <a:srgbClr val="0E2841"/>
          </a:solidFill>
          <a:ln w="12700">
            <a:solidFill>
              <a:srgbClr val="0E2841"/>
            </a:solidFill>
            <a:prstDash val="solid"/>
          </a:ln>
          <a:effectLst>
            <a:outerShdw blurRad="76200" dist="25400" dir="5400000" algn="bl" rotWithShape="0">
              <a:srgbClr val="0E2841">
                <a:alpha val="7000"/>
              </a:srgbClr>
            </a:outerShdw>
          </a:effectLst>
        </p:spPr>
        <p:txBody>
          <a:bodyPr/>
          <a:lstStyle/>
          <a:p>
            <a:endParaRPr lang="en-GB" dirty="0"/>
          </a:p>
        </p:txBody>
      </p:sp>
      <p:sp>
        <p:nvSpPr>
          <p:cNvPr id="36" name="Text 32"/>
          <p:cNvSpPr/>
          <p:nvPr/>
        </p:nvSpPr>
        <p:spPr>
          <a:xfrm>
            <a:off x="7845552" y="2496312"/>
            <a:ext cx="3578047" cy="566928"/>
          </a:xfrm>
          <a:prstGeom prst="rect">
            <a:avLst/>
          </a:prstGeom>
          <a:noFill/>
          <a:ln/>
        </p:spPr>
        <p:txBody>
          <a:bodyPr wrap="square" lIns="0" tIns="0" rIns="0" bIns="0" rtlCol="0" anchor="ctr"/>
          <a:lstStyle/>
          <a:p>
            <a:pPr marL="0" indent="0">
              <a:lnSpc>
                <a:spcPct val="100000"/>
              </a:lnSpc>
              <a:buNone/>
            </a:pPr>
            <a:r>
              <a:rPr lang="en-US" sz="1300" b="1" dirty="0">
                <a:solidFill>
                  <a:srgbClr val="FFFFFF"/>
                </a:solidFill>
                <a:latin typeface="Calibri" pitchFamily="34" charset="0"/>
                <a:ea typeface="Calibri" pitchFamily="34" charset="-122"/>
                <a:cs typeface="Calibri" pitchFamily="34" charset="-120"/>
              </a:rPr>
              <a:t>V2  Platform + AGENTIC LAYER </a:t>
            </a:r>
            <a:endParaRPr lang="en-US" sz="1300" dirty="0"/>
          </a:p>
          <a:p>
            <a:pPr marL="0" indent="0">
              <a:lnSpc>
                <a:spcPct val="100000"/>
              </a:lnSpc>
              <a:buNone/>
            </a:pPr>
            <a:r>
              <a:rPr lang="en-US" sz="1050" b="1" dirty="0">
                <a:solidFill>
                  <a:srgbClr val="5C9A6E"/>
                </a:solidFill>
                <a:latin typeface="Calibri" pitchFamily="34" charset="0"/>
                <a:ea typeface="Calibri" pitchFamily="34" charset="-122"/>
                <a:cs typeface="Calibri" pitchFamily="34" charset="-120"/>
              </a:rPr>
              <a:t>Launch Q2 2027</a:t>
            </a:r>
            <a:endParaRPr lang="en-US" sz="1300" dirty="0"/>
          </a:p>
        </p:txBody>
      </p:sp>
      <p:sp>
        <p:nvSpPr>
          <p:cNvPr id="37" name="Text 33"/>
          <p:cNvSpPr/>
          <p:nvPr/>
        </p:nvSpPr>
        <p:spPr>
          <a:xfrm>
            <a:off x="7818119" y="2960370"/>
            <a:ext cx="3578047" cy="237744"/>
          </a:xfrm>
          <a:prstGeom prst="rect">
            <a:avLst/>
          </a:prstGeom>
          <a:noFill/>
          <a:ln/>
        </p:spPr>
        <p:txBody>
          <a:bodyPr wrap="square" lIns="0" tIns="0" rIns="0" bIns="0" rtlCol="0" anchor="ctr"/>
          <a:lstStyle/>
          <a:p>
            <a:pPr marL="0" indent="0">
              <a:buNone/>
            </a:pPr>
            <a:r>
              <a:rPr lang="en-US" sz="1150" b="1" dirty="0">
                <a:solidFill>
                  <a:srgbClr val="5C9A6E"/>
                </a:solidFill>
                <a:latin typeface="Calibri" pitchFamily="34" charset="0"/>
                <a:ea typeface="Calibri" pitchFamily="34" charset="-122"/>
                <a:cs typeface="Calibri" pitchFamily="34" charset="-120"/>
              </a:rPr>
              <a:t>› </a:t>
            </a:r>
            <a:r>
              <a:rPr lang="en-US" sz="1150" b="1" dirty="0">
                <a:solidFill>
                  <a:srgbClr val="FFFFFF"/>
                </a:solidFill>
                <a:latin typeface="Calibri" pitchFamily="34" charset="0"/>
                <a:ea typeface="Calibri" pitchFamily="34" charset="-122"/>
                <a:cs typeface="Calibri" pitchFamily="34" charset="-120"/>
              </a:rPr>
              <a:t>Level 4 Agentic</a:t>
            </a:r>
            <a:endParaRPr lang="en-US" sz="1150" dirty="0"/>
          </a:p>
        </p:txBody>
      </p:sp>
      <p:sp>
        <p:nvSpPr>
          <p:cNvPr id="38" name="Text 34"/>
          <p:cNvSpPr/>
          <p:nvPr/>
        </p:nvSpPr>
        <p:spPr>
          <a:xfrm>
            <a:off x="7927847" y="3163824"/>
            <a:ext cx="3468319" cy="310896"/>
          </a:xfrm>
          <a:prstGeom prst="rect">
            <a:avLst/>
          </a:prstGeom>
          <a:noFill/>
          <a:ln/>
        </p:spPr>
        <p:txBody>
          <a:bodyPr wrap="square" lIns="0" tIns="0" rIns="0" bIns="0" rtlCol="0" anchor="t"/>
          <a:lstStyle/>
          <a:p>
            <a:pPr marL="0" indent="0">
              <a:lnSpc>
                <a:spcPct val="100000"/>
              </a:lnSpc>
              <a:buNone/>
            </a:pPr>
            <a:r>
              <a:rPr lang="en-US" sz="980" dirty="0">
                <a:solidFill>
                  <a:srgbClr val="B7C6D2"/>
                </a:solidFill>
                <a:latin typeface="Calibri" pitchFamily="34" charset="0"/>
                <a:ea typeface="Calibri" pitchFamily="34" charset="-122"/>
                <a:cs typeface="Calibri" pitchFamily="34" charset="-120"/>
              </a:rPr>
              <a:t>Autonomous PR and marketing </a:t>
            </a:r>
            <a:r>
              <a:rPr lang="en-GB" sz="980" noProof="0" dirty="0">
                <a:solidFill>
                  <a:srgbClr val="B7C6D2"/>
                </a:solidFill>
                <a:latin typeface="Calibri" pitchFamily="34" charset="0"/>
                <a:ea typeface="Calibri" pitchFamily="34" charset="-122"/>
                <a:cs typeface="Calibri" pitchFamily="34" charset="-120"/>
              </a:rPr>
              <a:t>programme</a:t>
            </a:r>
            <a:r>
              <a:rPr lang="en-US" sz="980" dirty="0">
                <a:solidFill>
                  <a:srgbClr val="B7C6D2"/>
                </a:solidFill>
                <a:latin typeface="Calibri" pitchFamily="34" charset="0"/>
                <a:ea typeface="Calibri" pitchFamily="34" charset="-122"/>
                <a:cs typeface="Calibri" pitchFamily="34" charset="-120"/>
              </a:rPr>
              <a:t> management with trained specialist agents, governed by human approval gates.</a:t>
            </a:r>
            <a:endParaRPr lang="en-US" sz="980" dirty="0"/>
          </a:p>
        </p:txBody>
      </p:sp>
      <p:sp>
        <p:nvSpPr>
          <p:cNvPr id="39" name="Text 35"/>
          <p:cNvSpPr/>
          <p:nvPr/>
        </p:nvSpPr>
        <p:spPr>
          <a:xfrm>
            <a:off x="7827264" y="4078224"/>
            <a:ext cx="3578047" cy="237744"/>
          </a:xfrm>
          <a:prstGeom prst="rect">
            <a:avLst/>
          </a:prstGeom>
          <a:noFill/>
          <a:ln/>
        </p:spPr>
        <p:txBody>
          <a:bodyPr wrap="square" lIns="0" tIns="0" rIns="0" bIns="0" rtlCol="0" anchor="ctr"/>
          <a:lstStyle/>
          <a:p>
            <a:pPr marL="0" indent="0">
              <a:buNone/>
            </a:pPr>
            <a:r>
              <a:rPr lang="en-US" sz="1150" b="1" dirty="0">
                <a:solidFill>
                  <a:srgbClr val="5C9A6E"/>
                </a:solidFill>
                <a:latin typeface="Calibri" pitchFamily="34" charset="0"/>
                <a:ea typeface="Calibri" pitchFamily="34" charset="-122"/>
                <a:cs typeface="Calibri" pitchFamily="34" charset="-120"/>
              </a:rPr>
              <a:t>› </a:t>
            </a:r>
            <a:r>
              <a:rPr lang="en-US" sz="1150" b="1" dirty="0">
                <a:solidFill>
                  <a:srgbClr val="FFFFFF"/>
                </a:solidFill>
                <a:latin typeface="Calibri" pitchFamily="34" charset="0"/>
                <a:ea typeface="Calibri" pitchFamily="34" charset="-122"/>
                <a:cs typeface="Calibri" pitchFamily="34" charset="-120"/>
              </a:rPr>
              <a:t>Journalist &amp; Media AI Authority Score</a:t>
            </a:r>
            <a:endParaRPr lang="en-US" sz="1150" dirty="0"/>
          </a:p>
        </p:txBody>
      </p:sp>
      <p:sp>
        <p:nvSpPr>
          <p:cNvPr id="40" name="Text 36"/>
          <p:cNvSpPr/>
          <p:nvPr/>
        </p:nvSpPr>
        <p:spPr>
          <a:xfrm>
            <a:off x="7955280" y="4315968"/>
            <a:ext cx="3468319" cy="310896"/>
          </a:xfrm>
          <a:prstGeom prst="rect">
            <a:avLst/>
          </a:prstGeom>
          <a:noFill/>
          <a:ln/>
        </p:spPr>
        <p:txBody>
          <a:bodyPr wrap="square" lIns="0" tIns="0" rIns="0" bIns="0" rtlCol="0" anchor="t"/>
          <a:lstStyle/>
          <a:p>
            <a:pPr marL="0" indent="0">
              <a:lnSpc>
                <a:spcPct val="100000"/>
              </a:lnSpc>
              <a:buNone/>
            </a:pPr>
            <a:r>
              <a:rPr lang="en-US" sz="980" dirty="0">
                <a:solidFill>
                  <a:srgbClr val="B7C6D2"/>
                </a:solidFill>
                <a:latin typeface="Calibri" pitchFamily="34" charset="0"/>
                <a:ea typeface="Calibri" pitchFamily="34" charset="-122"/>
                <a:cs typeface="Calibri" pitchFamily="34" charset="-120"/>
              </a:rPr>
              <a:t>Rank outreach by AI authority, not traditional readership.</a:t>
            </a:r>
            <a:endParaRPr lang="en-US" sz="980" dirty="0"/>
          </a:p>
        </p:txBody>
      </p:sp>
      <p:sp>
        <p:nvSpPr>
          <p:cNvPr id="41" name="Text 37"/>
          <p:cNvSpPr/>
          <p:nvPr/>
        </p:nvSpPr>
        <p:spPr>
          <a:xfrm>
            <a:off x="7845552" y="4517136"/>
            <a:ext cx="3578047" cy="237744"/>
          </a:xfrm>
          <a:prstGeom prst="rect">
            <a:avLst/>
          </a:prstGeom>
          <a:noFill/>
          <a:ln/>
        </p:spPr>
        <p:txBody>
          <a:bodyPr wrap="square" lIns="0" tIns="0" rIns="0" bIns="0" rtlCol="0" anchor="ctr"/>
          <a:lstStyle/>
          <a:p>
            <a:pPr marL="0" indent="0">
              <a:buNone/>
            </a:pPr>
            <a:r>
              <a:rPr lang="en-US" sz="1150" b="1" dirty="0">
                <a:solidFill>
                  <a:srgbClr val="5C9A6E"/>
                </a:solidFill>
                <a:latin typeface="Calibri" pitchFamily="34" charset="0"/>
                <a:ea typeface="Calibri" pitchFamily="34" charset="-122"/>
                <a:cs typeface="Calibri" pitchFamily="34" charset="-120"/>
              </a:rPr>
              <a:t>› </a:t>
            </a:r>
            <a:r>
              <a:rPr lang="en-US" sz="1150" b="1" dirty="0">
                <a:solidFill>
                  <a:srgbClr val="FFFFFF"/>
                </a:solidFill>
                <a:latin typeface="Calibri" pitchFamily="34" charset="0"/>
                <a:ea typeface="Calibri" pitchFamily="34" charset="-122"/>
                <a:cs typeface="Calibri" pitchFamily="34" charset="-120"/>
              </a:rPr>
              <a:t>Full AI Media Database</a:t>
            </a:r>
            <a:endParaRPr lang="en-US" sz="1150" dirty="0"/>
          </a:p>
        </p:txBody>
      </p:sp>
      <p:sp>
        <p:nvSpPr>
          <p:cNvPr id="42" name="Text 38"/>
          <p:cNvSpPr/>
          <p:nvPr/>
        </p:nvSpPr>
        <p:spPr>
          <a:xfrm>
            <a:off x="7973568" y="4754880"/>
            <a:ext cx="3468319" cy="310896"/>
          </a:xfrm>
          <a:prstGeom prst="rect">
            <a:avLst/>
          </a:prstGeom>
          <a:noFill/>
          <a:ln/>
        </p:spPr>
        <p:txBody>
          <a:bodyPr wrap="square" lIns="0" tIns="0" rIns="0" bIns="0" rtlCol="0" anchor="t"/>
          <a:lstStyle/>
          <a:p>
            <a:pPr marL="0" indent="0">
              <a:lnSpc>
                <a:spcPct val="100000"/>
              </a:lnSpc>
              <a:buNone/>
            </a:pPr>
            <a:r>
              <a:rPr lang="en-US" sz="980" dirty="0">
                <a:solidFill>
                  <a:srgbClr val="B7C6D2"/>
                </a:solidFill>
                <a:latin typeface="Calibri" pitchFamily="34" charset="0"/>
                <a:ea typeface="Calibri" pitchFamily="34" charset="-122"/>
                <a:cs typeface="Calibri" pitchFamily="34" charset="-120"/>
              </a:rPr>
              <a:t>AI enriched multi-market journalists research.</a:t>
            </a:r>
            <a:endParaRPr lang="en-US" sz="980" dirty="0"/>
          </a:p>
        </p:txBody>
      </p:sp>
      <p:sp>
        <p:nvSpPr>
          <p:cNvPr id="43" name="Text 39"/>
          <p:cNvSpPr/>
          <p:nvPr/>
        </p:nvSpPr>
        <p:spPr>
          <a:xfrm>
            <a:off x="7845552" y="4946904"/>
            <a:ext cx="3578047" cy="237744"/>
          </a:xfrm>
          <a:prstGeom prst="rect">
            <a:avLst/>
          </a:prstGeom>
          <a:noFill/>
          <a:ln/>
        </p:spPr>
        <p:txBody>
          <a:bodyPr wrap="square" lIns="0" tIns="0" rIns="0" bIns="0" rtlCol="0" anchor="ctr"/>
          <a:lstStyle/>
          <a:p>
            <a:pPr marL="0" indent="0">
              <a:buNone/>
            </a:pPr>
            <a:r>
              <a:rPr lang="en-US" sz="1150" b="1" dirty="0">
                <a:solidFill>
                  <a:srgbClr val="5C9A6E"/>
                </a:solidFill>
                <a:latin typeface="Calibri" pitchFamily="34" charset="0"/>
                <a:ea typeface="Calibri" pitchFamily="34" charset="-122"/>
                <a:cs typeface="Calibri" pitchFamily="34" charset="-120"/>
              </a:rPr>
              <a:t>› </a:t>
            </a:r>
            <a:r>
              <a:rPr lang="en-US" sz="1150" b="1" dirty="0">
                <a:solidFill>
                  <a:srgbClr val="FFFFFF"/>
                </a:solidFill>
                <a:latin typeface="Calibri" pitchFamily="34" charset="0"/>
                <a:ea typeface="Calibri" pitchFamily="34" charset="-122"/>
                <a:cs typeface="Calibri" pitchFamily="34" charset="-120"/>
              </a:rPr>
              <a:t>Release Gateway + Wire APIs</a:t>
            </a:r>
            <a:endParaRPr lang="en-US" sz="1150" dirty="0"/>
          </a:p>
        </p:txBody>
      </p:sp>
      <p:sp>
        <p:nvSpPr>
          <p:cNvPr id="44" name="Text 40"/>
          <p:cNvSpPr/>
          <p:nvPr/>
        </p:nvSpPr>
        <p:spPr>
          <a:xfrm>
            <a:off x="7973568" y="5184648"/>
            <a:ext cx="3468319" cy="310896"/>
          </a:xfrm>
          <a:prstGeom prst="rect">
            <a:avLst/>
          </a:prstGeom>
          <a:noFill/>
          <a:ln/>
        </p:spPr>
        <p:txBody>
          <a:bodyPr wrap="square" lIns="0" tIns="0" rIns="0" bIns="0" rtlCol="0" anchor="t"/>
          <a:lstStyle/>
          <a:p>
            <a:pPr marL="0" indent="0">
              <a:lnSpc>
                <a:spcPct val="100000"/>
              </a:lnSpc>
              <a:buNone/>
            </a:pPr>
            <a:r>
              <a:rPr lang="en-US" sz="980" dirty="0">
                <a:solidFill>
                  <a:srgbClr val="B7C6D2"/>
                </a:solidFill>
                <a:latin typeface="Calibri" pitchFamily="34" charset="0"/>
                <a:ea typeface="Calibri" pitchFamily="34" charset="-122"/>
                <a:cs typeface="Calibri" pitchFamily="34" charset="-120"/>
              </a:rPr>
              <a:t>In-platform publishing; PR Newswire / Business Wire integration.</a:t>
            </a:r>
            <a:endParaRPr lang="en-US" sz="980" dirty="0"/>
          </a:p>
        </p:txBody>
      </p:sp>
      <p:sp>
        <p:nvSpPr>
          <p:cNvPr id="45" name="Text 41"/>
          <p:cNvSpPr/>
          <p:nvPr/>
        </p:nvSpPr>
        <p:spPr>
          <a:xfrm>
            <a:off x="7845552" y="5385816"/>
            <a:ext cx="3578047" cy="237744"/>
          </a:xfrm>
          <a:prstGeom prst="rect">
            <a:avLst/>
          </a:prstGeom>
          <a:noFill/>
          <a:ln/>
        </p:spPr>
        <p:txBody>
          <a:bodyPr wrap="square" lIns="0" tIns="0" rIns="0" bIns="0" rtlCol="0" anchor="ctr"/>
          <a:lstStyle/>
          <a:p>
            <a:pPr marL="0" indent="0">
              <a:buNone/>
            </a:pPr>
            <a:r>
              <a:rPr lang="en-US" sz="1150" b="1" dirty="0">
                <a:solidFill>
                  <a:srgbClr val="5C9A6E"/>
                </a:solidFill>
                <a:latin typeface="Calibri" pitchFamily="34" charset="0"/>
                <a:ea typeface="Calibri" pitchFamily="34" charset="-122"/>
                <a:cs typeface="Calibri" pitchFamily="34" charset="-120"/>
              </a:rPr>
              <a:t>› </a:t>
            </a:r>
            <a:r>
              <a:rPr lang="en-US" sz="1150" b="1" dirty="0">
                <a:solidFill>
                  <a:srgbClr val="FFFFFF"/>
                </a:solidFill>
                <a:latin typeface="Calibri" pitchFamily="34" charset="0"/>
                <a:ea typeface="Calibri" pitchFamily="34" charset="-122"/>
                <a:cs typeface="Calibri" pitchFamily="34" charset="-120"/>
              </a:rPr>
              <a:t>Tactical Media Relations</a:t>
            </a:r>
            <a:endParaRPr lang="en-US" sz="1150" dirty="0"/>
          </a:p>
        </p:txBody>
      </p:sp>
      <p:sp>
        <p:nvSpPr>
          <p:cNvPr id="46" name="Text 42"/>
          <p:cNvSpPr/>
          <p:nvPr/>
        </p:nvSpPr>
        <p:spPr>
          <a:xfrm>
            <a:off x="7973568" y="5623560"/>
            <a:ext cx="3468319" cy="310896"/>
          </a:xfrm>
          <a:prstGeom prst="rect">
            <a:avLst/>
          </a:prstGeom>
          <a:noFill/>
          <a:ln/>
        </p:spPr>
        <p:txBody>
          <a:bodyPr wrap="square" lIns="0" tIns="0" rIns="0" bIns="0" rtlCol="0" anchor="t"/>
          <a:lstStyle/>
          <a:p>
            <a:pPr marL="0" indent="0">
              <a:lnSpc>
                <a:spcPct val="100000"/>
              </a:lnSpc>
              <a:buNone/>
            </a:pPr>
            <a:r>
              <a:rPr lang="en-US" sz="980" dirty="0">
                <a:solidFill>
                  <a:srgbClr val="B7C6D2"/>
                </a:solidFill>
                <a:latin typeface="Calibri" pitchFamily="34" charset="0"/>
                <a:ea typeface="Calibri" pitchFamily="34" charset="-122"/>
                <a:cs typeface="Calibri" pitchFamily="34" charset="-120"/>
              </a:rPr>
              <a:t>Live opportunity response with AI-assisted drafting.</a:t>
            </a:r>
            <a:endParaRPr lang="en-US" sz="980" dirty="0"/>
          </a:p>
        </p:txBody>
      </p:sp>
      <p:sp>
        <p:nvSpPr>
          <p:cNvPr id="47" name="Text 35">
            <a:extLst>
              <a:ext uri="{FF2B5EF4-FFF2-40B4-BE49-F238E27FC236}">
                <a16:creationId xmlns:a16="http://schemas.microsoft.com/office/drawing/2014/main" id="{9D6ED301-8D96-6965-865D-44E088DB5823}"/>
              </a:ext>
            </a:extLst>
          </p:cNvPr>
          <p:cNvSpPr/>
          <p:nvPr/>
        </p:nvSpPr>
        <p:spPr>
          <a:xfrm>
            <a:off x="7845552" y="3511296"/>
            <a:ext cx="3578047" cy="237744"/>
          </a:xfrm>
          <a:prstGeom prst="rect">
            <a:avLst/>
          </a:prstGeom>
          <a:noFill/>
          <a:ln/>
        </p:spPr>
        <p:txBody>
          <a:bodyPr wrap="square" lIns="0" tIns="0" rIns="0" bIns="0" rtlCol="0" anchor="ctr"/>
          <a:lstStyle/>
          <a:p>
            <a:pPr marL="0" indent="0">
              <a:buNone/>
            </a:pPr>
            <a:r>
              <a:rPr lang="en-US" sz="1150" b="1" dirty="0">
                <a:solidFill>
                  <a:srgbClr val="5C9A6E"/>
                </a:solidFill>
                <a:latin typeface="Calibri" pitchFamily="34" charset="0"/>
                <a:ea typeface="Calibri" pitchFamily="34" charset="-122"/>
                <a:cs typeface="Calibri" pitchFamily="34" charset="-120"/>
              </a:rPr>
              <a:t>› </a:t>
            </a:r>
            <a:r>
              <a:rPr lang="en-US" sz="1150" b="1" dirty="0">
                <a:solidFill>
                  <a:srgbClr val="FFFFFF"/>
                </a:solidFill>
                <a:latin typeface="Calibri" pitchFamily="34" charset="0"/>
                <a:ea typeface="Calibri" pitchFamily="34" charset="-122"/>
                <a:cs typeface="Calibri" pitchFamily="34" charset="-120"/>
              </a:rPr>
              <a:t>Authority building content engine</a:t>
            </a:r>
            <a:endParaRPr lang="en-US" sz="1150" dirty="0"/>
          </a:p>
        </p:txBody>
      </p:sp>
      <p:sp>
        <p:nvSpPr>
          <p:cNvPr id="48" name="Text 34">
            <a:extLst>
              <a:ext uri="{FF2B5EF4-FFF2-40B4-BE49-F238E27FC236}">
                <a16:creationId xmlns:a16="http://schemas.microsoft.com/office/drawing/2014/main" id="{3ABF7C87-89BC-4867-FF5F-BD88D9AFE9FD}"/>
              </a:ext>
            </a:extLst>
          </p:cNvPr>
          <p:cNvSpPr/>
          <p:nvPr/>
        </p:nvSpPr>
        <p:spPr>
          <a:xfrm>
            <a:off x="7955279" y="3758184"/>
            <a:ext cx="3468319" cy="310896"/>
          </a:xfrm>
          <a:prstGeom prst="rect">
            <a:avLst/>
          </a:prstGeom>
          <a:noFill/>
          <a:ln/>
        </p:spPr>
        <p:txBody>
          <a:bodyPr wrap="square" lIns="0" tIns="0" rIns="0" bIns="0" rtlCol="0" anchor="t"/>
          <a:lstStyle/>
          <a:p>
            <a:pPr marL="0" indent="0">
              <a:lnSpc>
                <a:spcPct val="100000"/>
              </a:lnSpc>
              <a:buNone/>
            </a:pPr>
            <a:r>
              <a:rPr lang="en-US" sz="980" dirty="0">
                <a:solidFill>
                  <a:srgbClr val="B7C6D2"/>
                </a:solidFill>
                <a:latin typeface="Calibri" pitchFamily="34" charset="0"/>
                <a:ea typeface="Calibri" pitchFamily="34" charset="-122"/>
                <a:cs typeface="Calibri" pitchFamily="34" charset="-120"/>
              </a:rPr>
              <a:t>Auto-content ideation and development based on customer search patterns. </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indent="0" algn="l">
              <a:buNone/>
            </a:pPr>
            <a:r>
              <a:rPr lang="en-US" sz="1150" b="1" kern="0" spc="250" dirty="0">
                <a:solidFill>
                  <a:srgbClr val="1B7EA6"/>
                </a:solidFill>
                <a:latin typeface="Calibri" pitchFamily="34" charset="0"/>
                <a:ea typeface="Calibri" pitchFamily="34" charset="-122"/>
                <a:cs typeface="Calibri" pitchFamily="34" charset="-120"/>
              </a:rPr>
              <a:t>MARKET OPPORTUNITY</a:t>
            </a:r>
            <a:endParaRPr lang="en-US" sz="1150" dirty="0"/>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indent="0" algn="l">
              <a:lnSpc>
                <a:spcPct val="98000"/>
              </a:lnSpc>
              <a:buNone/>
            </a:pPr>
            <a:r>
              <a:rPr lang="en-US" sz="2700" b="1" dirty="0">
                <a:solidFill>
                  <a:srgbClr val="0E2841"/>
                </a:solidFill>
                <a:latin typeface="Calibri" pitchFamily="34" charset="0"/>
                <a:ea typeface="Calibri" pitchFamily="34" charset="-122"/>
                <a:cs typeface="Calibri" pitchFamily="34" charset="-120"/>
              </a:rPr>
              <a:t>We address two colliding markets at an inflection point</a:t>
            </a:r>
            <a:endParaRPr lang="en-US" sz="2700" dirty="0"/>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indent="0">
              <a:buNone/>
            </a:pPr>
            <a:r>
              <a:rPr lang="en-US" sz="800" dirty="0">
                <a:solidFill>
                  <a:srgbClr val="5E7180"/>
                </a:solidFill>
                <a:latin typeface="Calibri" pitchFamily="34" charset="0"/>
                <a:ea typeface="Calibri" pitchFamily="34" charset="-122"/>
                <a:cs typeface="Calibri" pitchFamily="34" charset="-120"/>
              </a:rPr>
              <a:t>AIO Fusion Ltd   ·   Pre-Seed Investment Round   ·   June 2026   ·   Confidential</a:t>
            </a:r>
            <a:endParaRPr lang="en-US" sz="800" dirty="0"/>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indent="0" algn="r">
              <a:buNone/>
            </a:pPr>
            <a:r>
              <a:rPr lang="en-US" sz="800" dirty="0">
                <a:solidFill>
                  <a:srgbClr val="5E7180"/>
                </a:solidFill>
                <a:latin typeface="Calibri" pitchFamily="34" charset="0"/>
                <a:ea typeface="Calibri" pitchFamily="34" charset="-122"/>
                <a:cs typeface="Calibri" pitchFamily="34" charset="-120"/>
              </a:rPr>
              <a:t>06</a:t>
            </a:r>
            <a:endParaRPr lang="en-US" sz="800" dirty="0"/>
          </a:p>
        </p:txBody>
      </p:sp>
      <p:sp>
        <p:nvSpPr>
          <p:cNvPr id="8" name="Shape 4"/>
          <p:cNvSpPr/>
          <p:nvPr/>
        </p:nvSpPr>
        <p:spPr>
          <a:xfrm>
            <a:off x="566928" y="1874520"/>
            <a:ext cx="3493008" cy="3429000"/>
          </a:xfrm>
          <a:prstGeom prst="roundRect">
            <a:avLst>
              <a:gd name="adj" fmla="val 1600"/>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endParaRPr lang="en-GB" dirty="0"/>
          </a:p>
        </p:txBody>
      </p:sp>
      <p:sp>
        <p:nvSpPr>
          <p:cNvPr id="9" name="Shape 5"/>
          <p:cNvSpPr/>
          <p:nvPr/>
        </p:nvSpPr>
        <p:spPr>
          <a:xfrm>
            <a:off x="841248" y="2148840"/>
            <a:ext cx="1051560" cy="420624"/>
          </a:xfrm>
          <a:prstGeom prst="roundRect">
            <a:avLst>
              <a:gd name="adj" fmla="val 50000"/>
            </a:avLst>
          </a:prstGeom>
          <a:solidFill>
            <a:srgbClr val="1B7EA6"/>
          </a:solidFill>
          <a:ln/>
        </p:spPr>
        <p:txBody>
          <a:bodyPr/>
          <a:lstStyle/>
          <a:p>
            <a:endParaRPr lang="en-GB" dirty="0"/>
          </a:p>
        </p:txBody>
      </p:sp>
      <p:sp>
        <p:nvSpPr>
          <p:cNvPr id="10" name="Text 6"/>
          <p:cNvSpPr/>
          <p:nvPr/>
        </p:nvSpPr>
        <p:spPr>
          <a:xfrm>
            <a:off x="841248" y="2148840"/>
            <a:ext cx="1051560" cy="420624"/>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TAM</a:t>
            </a:r>
            <a:endParaRPr lang="en-US" sz="1400" dirty="0"/>
          </a:p>
        </p:txBody>
      </p:sp>
      <p:sp>
        <p:nvSpPr>
          <p:cNvPr id="11" name="Text 7"/>
          <p:cNvSpPr/>
          <p:nvPr/>
        </p:nvSpPr>
        <p:spPr>
          <a:xfrm>
            <a:off x="841248" y="2660904"/>
            <a:ext cx="2944368" cy="274320"/>
          </a:xfrm>
          <a:prstGeom prst="rect">
            <a:avLst/>
          </a:prstGeom>
          <a:noFill/>
          <a:ln/>
        </p:spPr>
        <p:txBody>
          <a:bodyPr wrap="square" lIns="0" tIns="0" rIns="0" bIns="0" rtlCol="0" anchor="ctr"/>
          <a:lstStyle/>
          <a:p>
            <a:pPr marL="0" indent="0">
              <a:buNone/>
            </a:pPr>
            <a:r>
              <a:rPr lang="en-US" sz="1000" b="1" kern="0" spc="100" dirty="0">
                <a:solidFill>
                  <a:srgbClr val="5E7180"/>
                </a:solidFill>
                <a:latin typeface="Calibri" pitchFamily="34" charset="0"/>
                <a:ea typeface="Calibri" pitchFamily="34" charset="-122"/>
                <a:cs typeface="Calibri" pitchFamily="34" charset="-120"/>
              </a:rPr>
              <a:t>GLOBAL</a:t>
            </a:r>
            <a:endParaRPr lang="en-US" sz="1000" dirty="0"/>
          </a:p>
        </p:txBody>
      </p:sp>
      <p:sp>
        <p:nvSpPr>
          <p:cNvPr id="12" name="Text 8"/>
          <p:cNvSpPr/>
          <p:nvPr/>
        </p:nvSpPr>
        <p:spPr>
          <a:xfrm>
            <a:off x="813816" y="2953512"/>
            <a:ext cx="3035808" cy="822960"/>
          </a:xfrm>
          <a:prstGeom prst="rect">
            <a:avLst/>
          </a:prstGeom>
          <a:noFill/>
          <a:ln/>
        </p:spPr>
        <p:txBody>
          <a:bodyPr wrap="square" lIns="0" tIns="0" rIns="0" bIns="0" rtlCol="0" anchor="ctr"/>
          <a:lstStyle/>
          <a:p>
            <a:pPr marL="0" indent="0">
              <a:buNone/>
            </a:pPr>
            <a:r>
              <a:rPr lang="en-US" sz="4600" b="1" dirty="0">
                <a:solidFill>
                  <a:srgbClr val="1B7EA6"/>
                </a:solidFill>
                <a:latin typeface="Calibri" pitchFamily="34" charset="0"/>
                <a:ea typeface="Calibri" pitchFamily="34" charset="-122"/>
                <a:cs typeface="Calibri" pitchFamily="34" charset="-120"/>
              </a:rPr>
              <a:t>&gt;$15B</a:t>
            </a:r>
            <a:endParaRPr lang="en-US" sz="4600" dirty="0"/>
          </a:p>
        </p:txBody>
      </p:sp>
      <p:sp>
        <p:nvSpPr>
          <p:cNvPr id="13" name="Text 9"/>
          <p:cNvSpPr/>
          <p:nvPr/>
        </p:nvSpPr>
        <p:spPr>
          <a:xfrm>
            <a:off x="841248" y="3813048"/>
            <a:ext cx="2944368" cy="1371600"/>
          </a:xfrm>
          <a:prstGeom prst="rect">
            <a:avLst/>
          </a:prstGeom>
          <a:noFill/>
          <a:ln/>
        </p:spPr>
        <p:txBody>
          <a:bodyPr wrap="square" lIns="0" tIns="0" rIns="0" bIns="0" rtlCol="0" anchor="t"/>
          <a:lstStyle/>
          <a:p>
            <a:pPr marL="0" indent="0">
              <a:lnSpc>
                <a:spcPct val="114000"/>
              </a:lnSpc>
              <a:buNone/>
            </a:pPr>
            <a:r>
              <a:rPr lang="en-US" sz="1150" dirty="0">
                <a:solidFill>
                  <a:srgbClr val="5E7180"/>
                </a:solidFill>
                <a:latin typeface="Calibri" pitchFamily="34" charset="0"/>
                <a:ea typeface="Calibri" pitchFamily="34" charset="-122"/>
                <a:cs typeface="Calibri" pitchFamily="34" charset="-120"/>
              </a:rPr>
              <a:t>PR software $13.8B (7% CAGR) + GEO / AEO platforms $520M–$1B (34–45% CAGR). </a:t>
            </a:r>
          </a:p>
          <a:p>
            <a:pPr marL="0" indent="0">
              <a:lnSpc>
                <a:spcPct val="114000"/>
              </a:lnSpc>
              <a:buNone/>
            </a:pPr>
            <a:r>
              <a:rPr lang="en-US" sz="1150" dirty="0">
                <a:solidFill>
                  <a:srgbClr val="5E7180"/>
                </a:solidFill>
                <a:latin typeface="Calibri" pitchFamily="34" charset="0"/>
                <a:ea typeface="Calibri" pitchFamily="34" charset="-122"/>
                <a:cs typeface="Calibri" pitchFamily="34" charset="-120"/>
              </a:rPr>
              <a:t>AIO Fusion operates across both layers.</a:t>
            </a:r>
            <a:endParaRPr lang="en-US" sz="1150" dirty="0"/>
          </a:p>
        </p:txBody>
      </p:sp>
      <p:sp>
        <p:nvSpPr>
          <p:cNvPr id="14" name="Shape 10"/>
          <p:cNvSpPr/>
          <p:nvPr/>
        </p:nvSpPr>
        <p:spPr>
          <a:xfrm>
            <a:off x="4361688" y="1874520"/>
            <a:ext cx="3493008" cy="3429000"/>
          </a:xfrm>
          <a:prstGeom prst="roundRect">
            <a:avLst>
              <a:gd name="adj" fmla="val 1600"/>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endParaRPr lang="en-GB" dirty="0"/>
          </a:p>
        </p:txBody>
      </p:sp>
      <p:sp>
        <p:nvSpPr>
          <p:cNvPr id="15" name="Shape 11"/>
          <p:cNvSpPr/>
          <p:nvPr/>
        </p:nvSpPr>
        <p:spPr>
          <a:xfrm>
            <a:off x="4636008" y="2148840"/>
            <a:ext cx="1051560" cy="420624"/>
          </a:xfrm>
          <a:prstGeom prst="roundRect">
            <a:avLst>
              <a:gd name="adj" fmla="val 50000"/>
            </a:avLst>
          </a:prstGeom>
          <a:solidFill>
            <a:srgbClr val="1B7EA6"/>
          </a:solidFill>
          <a:ln/>
        </p:spPr>
        <p:txBody>
          <a:bodyPr/>
          <a:lstStyle/>
          <a:p>
            <a:endParaRPr lang="en-GB" dirty="0"/>
          </a:p>
        </p:txBody>
      </p:sp>
      <p:sp>
        <p:nvSpPr>
          <p:cNvPr id="16" name="Text 12"/>
          <p:cNvSpPr/>
          <p:nvPr/>
        </p:nvSpPr>
        <p:spPr>
          <a:xfrm>
            <a:off x="4636008" y="2148840"/>
            <a:ext cx="1051560" cy="420624"/>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SAM</a:t>
            </a:r>
            <a:endParaRPr lang="en-US" sz="1400" dirty="0"/>
          </a:p>
        </p:txBody>
      </p:sp>
      <p:sp>
        <p:nvSpPr>
          <p:cNvPr id="17" name="Text 13"/>
          <p:cNvSpPr/>
          <p:nvPr/>
        </p:nvSpPr>
        <p:spPr>
          <a:xfrm>
            <a:off x="4636008" y="2660904"/>
            <a:ext cx="2944368" cy="274320"/>
          </a:xfrm>
          <a:prstGeom prst="rect">
            <a:avLst/>
          </a:prstGeom>
          <a:noFill/>
          <a:ln/>
        </p:spPr>
        <p:txBody>
          <a:bodyPr wrap="square" lIns="0" tIns="0" rIns="0" bIns="0" rtlCol="0" anchor="ctr"/>
          <a:lstStyle/>
          <a:p>
            <a:pPr marL="0" indent="0">
              <a:buNone/>
            </a:pPr>
            <a:r>
              <a:rPr lang="en-US" sz="1000" b="1" kern="0" spc="100" dirty="0">
                <a:solidFill>
                  <a:srgbClr val="5E7180"/>
                </a:solidFill>
                <a:latin typeface="Calibri" pitchFamily="34" charset="0"/>
                <a:ea typeface="Calibri" pitchFamily="34" charset="-122"/>
                <a:cs typeface="Calibri" pitchFamily="34" charset="-120"/>
              </a:rPr>
              <a:t>UK ADDRESSABLE</a:t>
            </a:r>
            <a:endParaRPr lang="en-US" sz="1000" dirty="0"/>
          </a:p>
        </p:txBody>
      </p:sp>
      <p:sp>
        <p:nvSpPr>
          <p:cNvPr id="18" name="Text 14"/>
          <p:cNvSpPr/>
          <p:nvPr/>
        </p:nvSpPr>
        <p:spPr>
          <a:xfrm>
            <a:off x="4608576" y="2953512"/>
            <a:ext cx="3035808" cy="822960"/>
          </a:xfrm>
          <a:prstGeom prst="rect">
            <a:avLst/>
          </a:prstGeom>
          <a:noFill/>
          <a:ln/>
        </p:spPr>
        <p:txBody>
          <a:bodyPr wrap="square" lIns="0" tIns="0" rIns="0" bIns="0" rtlCol="0" anchor="ctr"/>
          <a:lstStyle/>
          <a:p>
            <a:pPr marL="0" indent="0">
              <a:buNone/>
            </a:pPr>
            <a:r>
              <a:rPr lang="en-US" sz="4600" b="1" dirty="0">
                <a:solidFill>
                  <a:srgbClr val="1B7EA6"/>
                </a:solidFill>
                <a:latin typeface="Calibri" pitchFamily="34" charset="0"/>
                <a:ea typeface="Calibri" pitchFamily="34" charset="-122"/>
                <a:cs typeface="Calibri" pitchFamily="34" charset="-120"/>
              </a:rPr>
              <a:t>£86M</a:t>
            </a:r>
            <a:endParaRPr lang="en-US" sz="4600" dirty="0"/>
          </a:p>
        </p:txBody>
      </p:sp>
      <p:sp>
        <p:nvSpPr>
          <p:cNvPr id="19" name="Text 15"/>
          <p:cNvSpPr/>
          <p:nvPr/>
        </p:nvSpPr>
        <p:spPr>
          <a:xfrm>
            <a:off x="4636008" y="3813048"/>
            <a:ext cx="2944368" cy="1371600"/>
          </a:xfrm>
          <a:prstGeom prst="rect">
            <a:avLst/>
          </a:prstGeom>
          <a:noFill/>
          <a:ln/>
        </p:spPr>
        <p:txBody>
          <a:bodyPr wrap="square" lIns="0" tIns="0" rIns="0" bIns="0" rtlCol="0" anchor="t"/>
          <a:lstStyle/>
          <a:p>
            <a:pPr marL="0" indent="0">
              <a:lnSpc>
                <a:spcPct val="114000"/>
              </a:lnSpc>
              <a:buNone/>
            </a:pPr>
            <a:r>
              <a:rPr lang="en-US" sz="1150" dirty="0">
                <a:solidFill>
                  <a:srgbClr val="5E7180"/>
                </a:solidFill>
                <a:latin typeface="Calibri" pitchFamily="34" charset="0"/>
                <a:ea typeface="Calibri" pitchFamily="34" charset="-122"/>
                <a:cs typeface="Calibri" pitchFamily="34" charset="-120"/>
              </a:rPr>
              <a:t>~4,500–7,160 UK buyers: PR agencies £500k+ (~520), growth-stage £250–500k (~80–140), in-house B2B/B2C teams (3,300–5,500), digital agencies (600–1,000).</a:t>
            </a:r>
            <a:endParaRPr lang="en-US" sz="1150" dirty="0"/>
          </a:p>
        </p:txBody>
      </p:sp>
      <p:sp>
        <p:nvSpPr>
          <p:cNvPr id="20" name="Shape 16"/>
          <p:cNvSpPr/>
          <p:nvPr/>
        </p:nvSpPr>
        <p:spPr>
          <a:xfrm>
            <a:off x="8156448" y="1874520"/>
            <a:ext cx="3493008" cy="3429000"/>
          </a:xfrm>
          <a:prstGeom prst="roundRect">
            <a:avLst>
              <a:gd name="adj" fmla="val 1600"/>
            </a:avLst>
          </a:prstGeom>
          <a:solidFill>
            <a:srgbClr val="1B7EA6"/>
          </a:solidFill>
          <a:ln w="12700">
            <a:solidFill>
              <a:srgbClr val="1B7EA6"/>
            </a:solidFill>
            <a:prstDash val="solid"/>
          </a:ln>
          <a:effectLst>
            <a:outerShdw blurRad="76200" dist="25400" dir="5400000" algn="bl" rotWithShape="0">
              <a:srgbClr val="0E2841">
                <a:alpha val="7000"/>
              </a:srgbClr>
            </a:outerShdw>
          </a:effectLst>
        </p:spPr>
        <p:txBody>
          <a:bodyPr/>
          <a:lstStyle/>
          <a:p>
            <a:endParaRPr lang="en-GB" dirty="0"/>
          </a:p>
        </p:txBody>
      </p:sp>
      <p:sp>
        <p:nvSpPr>
          <p:cNvPr id="21" name="Shape 17"/>
          <p:cNvSpPr/>
          <p:nvPr/>
        </p:nvSpPr>
        <p:spPr>
          <a:xfrm>
            <a:off x="8430768" y="2148840"/>
            <a:ext cx="1051560" cy="420624"/>
          </a:xfrm>
          <a:prstGeom prst="roundRect">
            <a:avLst>
              <a:gd name="adj" fmla="val 50000"/>
            </a:avLst>
          </a:prstGeom>
          <a:solidFill>
            <a:srgbClr val="FFFFFF"/>
          </a:solidFill>
          <a:ln/>
        </p:spPr>
        <p:txBody>
          <a:bodyPr/>
          <a:lstStyle/>
          <a:p>
            <a:endParaRPr lang="en-GB" dirty="0"/>
          </a:p>
        </p:txBody>
      </p:sp>
      <p:sp>
        <p:nvSpPr>
          <p:cNvPr id="22" name="Text 18"/>
          <p:cNvSpPr/>
          <p:nvPr/>
        </p:nvSpPr>
        <p:spPr>
          <a:xfrm>
            <a:off x="8430768" y="2148840"/>
            <a:ext cx="1051560" cy="420624"/>
          </a:xfrm>
          <a:prstGeom prst="rect">
            <a:avLst/>
          </a:prstGeom>
          <a:noFill/>
          <a:ln/>
        </p:spPr>
        <p:txBody>
          <a:bodyPr wrap="square" lIns="0" tIns="0" rIns="0" bIns="0" rtlCol="0" anchor="ctr"/>
          <a:lstStyle/>
          <a:p>
            <a:pPr marL="0" indent="0" algn="ctr">
              <a:buNone/>
            </a:pPr>
            <a:r>
              <a:rPr lang="en-US" sz="1400" b="1" kern="0" spc="100" dirty="0">
                <a:solidFill>
                  <a:srgbClr val="1B7EA6"/>
                </a:solidFill>
                <a:latin typeface="Calibri" pitchFamily="34" charset="0"/>
                <a:ea typeface="Calibri" pitchFamily="34" charset="-122"/>
                <a:cs typeface="Calibri" pitchFamily="34" charset="-120"/>
              </a:rPr>
              <a:t>SOM</a:t>
            </a:r>
            <a:endParaRPr lang="en-US" sz="1400" dirty="0"/>
          </a:p>
        </p:txBody>
      </p:sp>
      <p:sp>
        <p:nvSpPr>
          <p:cNvPr id="23" name="Text 19"/>
          <p:cNvSpPr/>
          <p:nvPr/>
        </p:nvSpPr>
        <p:spPr>
          <a:xfrm>
            <a:off x="8430768" y="2660904"/>
            <a:ext cx="2944368" cy="274320"/>
          </a:xfrm>
          <a:prstGeom prst="rect">
            <a:avLst/>
          </a:prstGeom>
          <a:noFill/>
          <a:ln/>
        </p:spPr>
        <p:txBody>
          <a:bodyPr wrap="square" lIns="0" tIns="0" rIns="0" bIns="0" rtlCol="0" anchor="ctr"/>
          <a:lstStyle/>
          <a:p>
            <a:pPr marL="0" indent="0">
              <a:buNone/>
            </a:pPr>
            <a:r>
              <a:rPr lang="en-US" sz="1000" b="1" kern="0" spc="100" dirty="0">
                <a:solidFill>
                  <a:srgbClr val="DCEEF4"/>
                </a:solidFill>
                <a:latin typeface="Calibri" pitchFamily="34" charset="0"/>
                <a:ea typeface="Calibri" pitchFamily="34" charset="-122"/>
                <a:cs typeface="Calibri" pitchFamily="34" charset="-120"/>
              </a:rPr>
              <a:t>YEAR 1–2 UK TARGET</a:t>
            </a:r>
            <a:endParaRPr lang="en-US" sz="1000" dirty="0"/>
          </a:p>
        </p:txBody>
      </p:sp>
      <p:sp>
        <p:nvSpPr>
          <p:cNvPr id="24" name="Text 20"/>
          <p:cNvSpPr/>
          <p:nvPr/>
        </p:nvSpPr>
        <p:spPr>
          <a:xfrm>
            <a:off x="8403336" y="2953512"/>
            <a:ext cx="3035808" cy="82296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£1.2M+</a:t>
            </a:r>
            <a:endParaRPr lang="en-US" sz="4600" dirty="0"/>
          </a:p>
        </p:txBody>
      </p:sp>
      <p:sp>
        <p:nvSpPr>
          <p:cNvPr id="25" name="Text 21"/>
          <p:cNvSpPr/>
          <p:nvPr/>
        </p:nvSpPr>
        <p:spPr>
          <a:xfrm>
            <a:off x="8430768" y="3813048"/>
            <a:ext cx="2944368" cy="1371600"/>
          </a:xfrm>
          <a:prstGeom prst="rect">
            <a:avLst/>
          </a:prstGeom>
          <a:noFill/>
          <a:ln/>
        </p:spPr>
        <p:txBody>
          <a:bodyPr wrap="square" lIns="0" tIns="0" rIns="0" bIns="0" rtlCol="0" anchor="t"/>
          <a:lstStyle/>
          <a:p>
            <a:pPr marL="0" indent="0">
              <a:lnSpc>
                <a:spcPct val="114000"/>
              </a:lnSpc>
              <a:buNone/>
            </a:pPr>
            <a:r>
              <a:rPr lang="en-US" sz="1150" dirty="0">
                <a:solidFill>
                  <a:srgbClr val="EAF3F7"/>
                </a:solidFill>
                <a:latin typeface="Calibri" pitchFamily="34" charset="0"/>
                <a:ea typeface="Calibri" pitchFamily="34" charset="-122"/>
                <a:cs typeface="Calibri" pitchFamily="34" charset="-120"/>
              </a:rPr>
              <a:t>190–360 paying clients at £5–6.5k/yr average by end of Year 2. US entry from Q3 2027 adds £250–500k ARR.</a:t>
            </a:r>
            <a:endParaRPr lang="en-US" sz="1150" dirty="0"/>
          </a:p>
        </p:txBody>
      </p:sp>
      <p:sp>
        <p:nvSpPr>
          <p:cNvPr id="26" name="Shape 22"/>
          <p:cNvSpPr/>
          <p:nvPr/>
        </p:nvSpPr>
        <p:spPr>
          <a:xfrm>
            <a:off x="566928" y="5468112"/>
            <a:ext cx="11057839" cy="713232"/>
          </a:xfrm>
          <a:prstGeom prst="roundRect">
            <a:avLst>
              <a:gd name="adj" fmla="val 7692"/>
            </a:avLst>
          </a:prstGeom>
          <a:solidFill>
            <a:srgbClr val="F5FAFC"/>
          </a:solidFill>
          <a:ln w="12700">
            <a:solidFill>
              <a:srgbClr val="D7E2E9"/>
            </a:solidFill>
            <a:prstDash val="solid"/>
          </a:ln>
        </p:spPr>
        <p:txBody>
          <a:bodyPr/>
          <a:lstStyle/>
          <a:p>
            <a:endParaRPr lang="en-GB" dirty="0"/>
          </a:p>
        </p:txBody>
      </p:sp>
      <p:sp>
        <p:nvSpPr>
          <p:cNvPr id="27" name="Text 23"/>
          <p:cNvSpPr/>
          <p:nvPr/>
        </p:nvSpPr>
        <p:spPr>
          <a:xfrm>
            <a:off x="841248" y="5468112"/>
            <a:ext cx="10509199" cy="713232"/>
          </a:xfrm>
          <a:prstGeom prst="rect">
            <a:avLst/>
          </a:prstGeom>
          <a:noFill/>
          <a:ln/>
        </p:spPr>
        <p:txBody>
          <a:bodyPr wrap="square" lIns="0" tIns="0" rIns="0" bIns="0" rtlCol="0" anchor="ctr"/>
          <a:lstStyle/>
          <a:p>
            <a:pPr marL="0" indent="0">
              <a:lnSpc>
                <a:spcPct val="105000"/>
              </a:lnSpc>
              <a:buNone/>
            </a:pPr>
            <a:r>
              <a:rPr lang="en-US" sz="1250" b="1" dirty="0">
                <a:solidFill>
                  <a:srgbClr val="12536E"/>
                </a:solidFill>
                <a:latin typeface="Calibri" pitchFamily="34" charset="0"/>
                <a:ea typeface="Calibri" pitchFamily="34" charset="-122"/>
                <a:cs typeface="Calibri" pitchFamily="34" charset="-120"/>
              </a:rPr>
              <a:t>Why now:  </a:t>
            </a:r>
            <a:r>
              <a:rPr lang="en-US" sz="1250" dirty="0">
                <a:solidFill>
                  <a:srgbClr val="0E2841"/>
                </a:solidFill>
                <a:latin typeface="Calibri" pitchFamily="34" charset="0"/>
                <a:ea typeface="Calibri" pitchFamily="34" charset="-122"/>
                <a:cs typeface="Calibri" pitchFamily="34" charset="-120"/>
              </a:rPr>
              <a:t>GEO / AEO platforms are growing 34–45% a year. The 12–18 month window for category leadership is open now, before well-funded competitors bolt on the PR workflow and consider developing an autonomous agentic layer.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50" normalizeH="0" baseline="0" noProof="0" dirty="0">
                <a:ln>
                  <a:noFill/>
                </a:ln>
                <a:solidFill>
                  <a:srgbClr val="1B7EA6"/>
                </a:solidFill>
                <a:effectLst/>
                <a:uLnTx/>
                <a:uFillTx/>
                <a:latin typeface="Calibri" pitchFamily="34" charset="0"/>
                <a:ea typeface="Calibri" pitchFamily="34" charset="-122"/>
                <a:cs typeface="Calibri" pitchFamily="34" charset="-120"/>
              </a:rPr>
              <a:t>COMPETITIVE POSITION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Incumbents are adding AI features.</a:t>
            </a:r>
          </a:p>
          <a:p>
            <a:pPr marL="0" marR="0" lvl="0" indent="0" algn="l" defTabSz="914400" rtl="0" eaLnBrk="1" fontAlgn="auto" latinLnBrk="0" hangingPunct="1">
              <a:lnSpc>
                <a:spcPct val="98000"/>
              </a:lnSpc>
              <a:spcBef>
                <a:spcPts val="0"/>
              </a:spcBef>
              <a:spcAft>
                <a:spcPts val="0"/>
              </a:spcAft>
              <a:buClrTx/>
              <a:buSzTx/>
              <a:buFontTx/>
              <a:buNone/>
              <a:tabLst/>
              <a:defRPr/>
            </a:pP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None has built the diagnostic loop.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AIO Fusion Ltd   ·   Pre-Seed Investment Round   ·   June 2026   ·   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07</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4"/>
          <p:cNvSpPr/>
          <p:nvPr/>
        </p:nvSpPr>
        <p:spPr>
          <a:xfrm>
            <a:off x="566928" y="1828800"/>
            <a:ext cx="11057839" cy="566928"/>
          </a:xfrm>
          <a:prstGeom prst="rect">
            <a:avLst/>
          </a:prstGeom>
          <a:solidFill>
            <a:srgbClr val="0E284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731520" y="1828800"/>
            <a:ext cx="214884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Platform</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2898648" y="1828800"/>
            <a:ext cx="1454353" cy="566928"/>
          </a:xfrm>
          <a:prstGeom prst="rect">
            <a:avLst/>
          </a:prstGeom>
          <a:noFill/>
          <a:ln/>
        </p:spPr>
        <p:txBody>
          <a:bodyPr wrap="square" lIns="0" tIns="0" rIns="0" bIns="0" rtlCol="0" anchor="ctr"/>
          <a:lstStyle/>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GEO / AI</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Visibility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4353001" y="1828800"/>
            <a:ext cx="1454353" cy="566928"/>
          </a:xfrm>
          <a:prstGeom prst="rect">
            <a:avLst/>
          </a:prstGeom>
          <a:noFill/>
          <a:ln/>
        </p:spPr>
        <p:txBody>
          <a:bodyPr wrap="square" lIns="0" tIns="0" rIns="0" bIns="0" rtlCol="0" anchor="ctr"/>
          <a:lstStyle/>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Workflow</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5807354" y="1828800"/>
            <a:ext cx="1454353" cy="566928"/>
          </a:xfrm>
          <a:prstGeom prst="rect">
            <a:avLst/>
          </a:prstGeom>
          <a:noFill/>
          <a:ln/>
        </p:spPr>
        <p:txBody>
          <a:bodyPr wrap="square" lIns="0" tIns="0" rIns="0" bIns="0" rtlCol="0" anchor="ctr"/>
          <a:lstStyle/>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Content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Creation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7261708" y="1828800"/>
            <a:ext cx="1454353" cy="566928"/>
          </a:xfrm>
          <a:prstGeom prst="rect">
            <a:avLst/>
          </a:prstGeom>
          <a:noFill/>
          <a:ln/>
        </p:spPr>
        <p:txBody>
          <a:bodyPr wrap="square" lIns="0" tIns="0" rIns="0" bIns="0" rtlCol="0" anchor="ctr"/>
          <a:lstStyle/>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Media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Intelligence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8716061" y="1828800"/>
            <a:ext cx="1454353" cy="566928"/>
          </a:xfrm>
          <a:prstGeom prst="rect">
            <a:avLst/>
          </a:prstGeom>
          <a:noFill/>
          <a:ln/>
        </p:spPr>
        <p:txBody>
          <a:bodyPr wrap="square" lIns="0" tIns="0" rIns="0" bIns="0" rtlCol="0" anchor="ctr"/>
          <a:lstStyle/>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Agentic /</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Autonomous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10170414" y="1828800"/>
            <a:ext cx="1454353" cy="566928"/>
          </a:xfrm>
          <a:prstGeom prst="rect">
            <a:avLst/>
          </a:prstGeom>
          <a:noFill/>
          <a:ln/>
        </p:spPr>
        <p:txBody>
          <a:bodyPr wrap="square" lIns="0" tIns="0" rIns="0" bIns="0" rtlCol="0" anchor="ctr"/>
          <a:lstStyle/>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Mid-Market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92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Price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566928" y="2395728"/>
            <a:ext cx="11057839" cy="384048"/>
          </a:xfrm>
          <a:prstGeom prst="rect">
            <a:avLst/>
          </a:prstGeom>
          <a:solidFill>
            <a:srgbClr val="EAF3F7"/>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566928" y="2395728"/>
            <a:ext cx="73152" cy="384048"/>
          </a:xfrm>
          <a:prstGeom prst="rect">
            <a:avLst/>
          </a:prstGeom>
          <a:solidFill>
            <a:srgbClr val="1B7E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731520" y="2395728"/>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536E"/>
                </a:solidFill>
                <a:effectLst/>
                <a:uLnTx/>
                <a:uFillTx/>
                <a:latin typeface="Calibri" pitchFamily="34" charset="0"/>
                <a:ea typeface="Calibri" pitchFamily="34" charset="-122"/>
                <a:cs typeface="Calibri" pitchFamily="34" charset="-120"/>
              </a:rPr>
              <a:t>AIO Fusion V1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2898648" y="239572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4353001" y="239572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5807354" y="239572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8"/>
          <p:cNvSpPr/>
          <p:nvPr/>
        </p:nvSpPr>
        <p:spPr>
          <a:xfrm>
            <a:off x="7261708" y="239572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8716061" y="239572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2536E"/>
                </a:solidFill>
                <a:effectLst/>
                <a:uLnTx/>
                <a:uFillTx/>
                <a:latin typeface="Calibri" pitchFamily="34" charset="0"/>
                <a:ea typeface="Calibri" pitchFamily="34" charset="-122"/>
                <a:cs typeface="Calibri" pitchFamily="34" charset="-120"/>
              </a:rPr>
              <a:t>Q2 ’27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10170414" y="239572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1"/>
          <p:cNvSpPr/>
          <p:nvPr/>
        </p:nvSpPr>
        <p:spPr>
          <a:xfrm>
            <a:off x="566928" y="2779776"/>
            <a:ext cx="11057839" cy="384048"/>
          </a:xfrm>
          <a:prstGeom prst="rect">
            <a:avLst/>
          </a:prstGeom>
          <a:solidFill>
            <a:srgbClr val="F4F8FA"/>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2"/>
          <p:cNvSpPr/>
          <p:nvPr/>
        </p:nvSpPr>
        <p:spPr>
          <a:xfrm>
            <a:off x="731520" y="2779776"/>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Semrush AI PR Toolkit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3"/>
          <p:cNvSpPr/>
          <p:nvPr/>
        </p:nvSpPr>
        <p:spPr>
          <a:xfrm>
            <a:off x="2898648" y="277977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0A640"/>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4353001" y="277977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5807354" y="277977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0A640"/>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6"/>
          <p:cNvSpPr/>
          <p:nvPr/>
        </p:nvSpPr>
        <p:spPr>
          <a:xfrm>
            <a:off x="7261708" y="277977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7"/>
          <p:cNvSpPr/>
          <p:nvPr/>
        </p:nvSpPr>
        <p:spPr>
          <a:xfrm>
            <a:off x="8716061" y="277977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10170414" y="277977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9"/>
          <p:cNvSpPr/>
          <p:nvPr/>
        </p:nvSpPr>
        <p:spPr>
          <a:xfrm>
            <a:off x="566928" y="3163824"/>
            <a:ext cx="11057839" cy="384048"/>
          </a:xfrm>
          <a:prstGeom prst="rect">
            <a:avLst/>
          </a:prstGeom>
          <a:solidFill>
            <a:srgbClr val="FFFFFF"/>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731520" y="3163824"/>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CisionOne AI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2898648" y="316382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2"/>
          <p:cNvSpPr/>
          <p:nvPr/>
        </p:nvSpPr>
        <p:spPr>
          <a:xfrm>
            <a:off x="4353001" y="316382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3"/>
          <p:cNvSpPr/>
          <p:nvPr/>
        </p:nvSpPr>
        <p:spPr>
          <a:xfrm>
            <a:off x="5807354" y="316382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0A640"/>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4"/>
          <p:cNvSpPr/>
          <p:nvPr/>
        </p:nvSpPr>
        <p:spPr>
          <a:xfrm>
            <a:off x="7261708" y="316382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8716061" y="316382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6"/>
          <p:cNvSpPr/>
          <p:nvPr/>
        </p:nvSpPr>
        <p:spPr>
          <a:xfrm>
            <a:off x="10170414" y="316382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7"/>
          <p:cNvSpPr/>
          <p:nvPr/>
        </p:nvSpPr>
        <p:spPr>
          <a:xfrm>
            <a:off x="566928" y="3547872"/>
            <a:ext cx="11057839" cy="384048"/>
          </a:xfrm>
          <a:prstGeom prst="rect">
            <a:avLst/>
          </a:prstGeom>
          <a:solidFill>
            <a:srgbClr val="F4F8FA"/>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731520" y="3547872"/>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Onclusive GEO Analytics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39"/>
          <p:cNvSpPr/>
          <p:nvPr/>
        </p:nvSpPr>
        <p:spPr>
          <a:xfrm>
            <a:off x="2898648" y="354787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0A640"/>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0"/>
          <p:cNvSpPr/>
          <p:nvPr/>
        </p:nvSpPr>
        <p:spPr>
          <a:xfrm>
            <a:off x="4353001" y="354787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1"/>
          <p:cNvSpPr/>
          <p:nvPr/>
        </p:nvSpPr>
        <p:spPr>
          <a:xfrm>
            <a:off x="5807354" y="354787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2"/>
          <p:cNvSpPr/>
          <p:nvPr/>
        </p:nvSpPr>
        <p:spPr>
          <a:xfrm>
            <a:off x="7261708" y="354787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0A640"/>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3"/>
          <p:cNvSpPr/>
          <p:nvPr/>
        </p:nvSpPr>
        <p:spPr>
          <a:xfrm>
            <a:off x="8716061" y="354787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4"/>
          <p:cNvSpPr/>
          <p:nvPr/>
        </p:nvSpPr>
        <p:spPr>
          <a:xfrm>
            <a:off x="10170414" y="354787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5"/>
          <p:cNvSpPr/>
          <p:nvPr/>
        </p:nvSpPr>
        <p:spPr>
          <a:xfrm>
            <a:off x="566928" y="3931920"/>
            <a:ext cx="11057839" cy="384048"/>
          </a:xfrm>
          <a:prstGeom prst="rect">
            <a:avLst/>
          </a:prstGeom>
          <a:solidFill>
            <a:srgbClr val="FFFFFF"/>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6"/>
          <p:cNvSpPr/>
          <p:nvPr/>
        </p:nvSpPr>
        <p:spPr>
          <a:xfrm>
            <a:off x="731520" y="3931920"/>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Meltwater (Mira)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7"/>
          <p:cNvSpPr/>
          <p:nvPr/>
        </p:nvSpPr>
        <p:spPr>
          <a:xfrm>
            <a:off x="2898648" y="3931920"/>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0A640"/>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48"/>
          <p:cNvSpPr/>
          <p:nvPr/>
        </p:nvSpPr>
        <p:spPr>
          <a:xfrm>
            <a:off x="4353001" y="3931920"/>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49"/>
          <p:cNvSpPr/>
          <p:nvPr/>
        </p:nvSpPr>
        <p:spPr>
          <a:xfrm>
            <a:off x="5807354" y="3931920"/>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0"/>
          <p:cNvSpPr/>
          <p:nvPr/>
        </p:nvSpPr>
        <p:spPr>
          <a:xfrm>
            <a:off x="7261708" y="3931920"/>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1"/>
          <p:cNvSpPr/>
          <p:nvPr/>
        </p:nvSpPr>
        <p:spPr>
          <a:xfrm>
            <a:off x="8716061" y="3931920"/>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2"/>
          <p:cNvSpPr/>
          <p:nvPr/>
        </p:nvSpPr>
        <p:spPr>
          <a:xfrm>
            <a:off x="10170414" y="3931920"/>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3"/>
          <p:cNvSpPr/>
          <p:nvPr/>
        </p:nvSpPr>
        <p:spPr>
          <a:xfrm>
            <a:off x="566928" y="4315968"/>
            <a:ext cx="11057839" cy="384048"/>
          </a:xfrm>
          <a:prstGeom prst="rect">
            <a:avLst/>
          </a:prstGeom>
          <a:solidFill>
            <a:srgbClr val="F4F8FA"/>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4"/>
          <p:cNvSpPr/>
          <p:nvPr/>
        </p:nvSpPr>
        <p:spPr>
          <a:xfrm>
            <a:off x="731520" y="4315968"/>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Muck Rack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5"/>
          <p:cNvSpPr/>
          <p:nvPr/>
        </p:nvSpPr>
        <p:spPr>
          <a:xfrm>
            <a:off x="2898648" y="431596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0A640"/>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6"/>
          <p:cNvSpPr/>
          <p:nvPr/>
        </p:nvSpPr>
        <p:spPr>
          <a:xfrm>
            <a:off x="4353001" y="431596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7"/>
          <p:cNvSpPr/>
          <p:nvPr/>
        </p:nvSpPr>
        <p:spPr>
          <a:xfrm>
            <a:off x="5807354" y="431596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58"/>
          <p:cNvSpPr/>
          <p:nvPr/>
        </p:nvSpPr>
        <p:spPr>
          <a:xfrm>
            <a:off x="7261708" y="431596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Text 59"/>
          <p:cNvSpPr/>
          <p:nvPr/>
        </p:nvSpPr>
        <p:spPr>
          <a:xfrm>
            <a:off x="8716061" y="431596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 60"/>
          <p:cNvSpPr/>
          <p:nvPr/>
        </p:nvSpPr>
        <p:spPr>
          <a:xfrm>
            <a:off x="10170414" y="4315968"/>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Shape 61"/>
          <p:cNvSpPr/>
          <p:nvPr/>
        </p:nvSpPr>
        <p:spPr>
          <a:xfrm>
            <a:off x="566928" y="4700016"/>
            <a:ext cx="11057839" cy="384048"/>
          </a:xfrm>
          <a:prstGeom prst="rect">
            <a:avLst/>
          </a:prstGeom>
          <a:solidFill>
            <a:srgbClr val="FFFFFF"/>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2"/>
          <p:cNvSpPr/>
          <p:nvPr/>
        </p:nvSpPr>
        <p:spPr>
          <a:xfrm>
            <a:off x="731520" y="4700016"/>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Profound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3"/>
          <p:cNvSpPr/>
          <p:nvPr/>
        </p:nvSpPr>
        <p:spPr>
          <a:xfrm>
            <a:off x="2898648" y="470001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4"/>
          <p:cNvSpPr/>
          <p:nvPr/>
        </p:nvSpPr>
        <p:spPr>
          <a:xfrm>
            <a:off x="4353001" y="470001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Text 65"/>
          <p:cNvSpPr/>
          <p:nvPr/>
        </p:nvSpPr>
        <p:spPr>
          <a:xfrm>
            <a:off x="5807354" y="470001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Text 66"/>
          <p:cNvSpPr/>
          <p:nvPr/>
        </p:nvSpPr>
        <p:spPr>
          <a:xfrm>
            <a:off x="7261708" y="470001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67"/>
          <p:cNvSpPr/>
          <p:nvPr/>
        </p:nvSpPr>
        <p:spPr>
          <a:xfrm>
            <a:off x="8716061" y="470001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 68"/>
          <p:cNvSpPr/>
          <p:nvPr/>
        </p:nvSpPr>
        <p:spPr>
          <a:xfrm>
            <a:off x="10170414" y="4700016"/>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Shape 69"/>
          <p:cNvSpPr/>
          <p:nvPr/>
        </p:nvSpPr>
        <p:spPr>
          <a:xfrm>
            <a:off x="566928" y="5084064"/>
            <a:ext cx="11057839" cy="384048"/>
          </a:xfrm>
          <a:prstGeom prst="rect">
            <a:avLst/>
          </a:prstGeom>
          <a:solidFill>
            <a:srgbClr val="F4F8FA"/>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Text 70"/>
          <p:cNvSpPr/>
          <p:nvPr/>
        </p:nvSpPr>
        <p:spPr>
          <a:xfrm>
            <a:off x="731520" y="5084064"/>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Vuelio / Roxhill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Text 71"/>
          <p:cNvSpPr/>
          <p:nvPr/>
        </p:nvSpPr>
        <p:spPr>
          <a:xfrm>
            <a:off x="2898648" y="508406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 72"/>
          <p:cNvSpPr/>
          <p:nvPr/>
        </p:nvSpPr>
        <p:spPr>
          <a:xfrm>
            <a:off x="4353001" y="508406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Text 73"/>
          <p:cNvSpPr/>
          <p:nvPr/>
        </p:nvSpPr>
        <p:spPr>
          <a:xfrm>
            <a:off x="5807354" y="508406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Text 74"/>
          <p:cNvSpPr/>
          <p:nvPr/>
        </p:nvSpPr>
        <p:spPr>
          <a:xfrm>
            <a:off x="7261708" y="508406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Text 75"/>
          <p:cNvSpPr/>
          <p:nvPr/>
        </p:nvSpPr>
        <p:spPr>
          <a:xfrm>
            <a:off x="8716061" y="508406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Text 76"/>
          <p:cNvSpPr/>
          <p:nvPr/>
        </p:nvSpPr>
        <p:spPr>
          <a:xfrm>
            <a:off x="10170414" y="5084064"/>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Text 77"/>
          <p:cNvSpPr/>
          <p:nvPr/>
        </p:nvSpPr>
        <p:spPr>
          <a:xfrm>
            <a:off x="566928" y="6112160"/>
            <a:ext cx="11057839" cy="35000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2536E"/>
                </a:solidFill>
                <a:effectLst/>
                <a:uLnTx/>
                <a:uFillTx/>
                <a:latin typeface="Calibri" pitchFamily="34" charset="0"/>
                <a:ea typeface="Calibri" pitchFamily="34" charset="-122"/>
                <a:cs typeface="Calibri" pitchFamily="34" charset="-120"/>
              </a:rPr>
              <a:t>AIO Fusion moats: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only integrated diagnostic-to-action platform  ·  PR-specialist design (not SEO/brand)  ·  OpenClaw Agentic Layer Q2 2027 ·  mid-market pricing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Shape 77"/>
          <p:cNvSpPr/>
          <p:nvPr/>
        </p:nvSpPr>
        <p:spPr>
          <a:xfrm>
            <a:off x="566928" y="5468112"/>
            <a:ext cx="11057839" cy="384048"/>
          </a:xfrm>
          <a:prstGeom prst="rect">
            <a:avLst/>
          </a:prstGeom>
          <a:solidFill>
            <a:srgbClr val="F4F8FA"/>
          </a:solidFill>
          <a:ln w="6350">
            <a:solidFill>
              <a:srgbClr val="EAEFF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Text 78"/>
          <p:cNvSpPr/>
          <p:nvPr/>
        </p:nvSpPr>
        <p:spPr>
          <a:xfrm>
            <a:off x="731520" y="5468112"/>
            <a:ext cx="214884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Scrunch AI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79"/>
          <p:cNvSpPr/>
          <p:nvPr/>
        </p:nvSpPr>
        <p:spPr>
          <a:xfrm>
            <a:off x="2898648" y="546811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Text 80"/>
          <p:cNvSpPr/>
          <p:nvPr/>
        </p:nvSpPr>
        <p:spPr>
          <a:xfrm>
            <a:off x="4353001" y="546811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Text 81"/>
          <p:cNvSpPr/>
          <p:nvPr/>
        </p:nvSpPr>
        <p:spPr>
          <a:xfrm>
            <a:off x="5807354" y="546811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Text 82"/>
          <p:cNvSpPr/>
          <p:nvPr/>
        </p:nvSpPr>
        <p:spPr>
          <a:xfrm>
            <a:off x="7261708" y="546811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Text 83"/>
          <p:cNvSpPr/>
          <p:nvPr/>
        </p:nvSpPr>
        <p:spPr>
          <a:xfrm>
            <a:off x="8716061" y="546811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Text 84"/>
          <p:cNvSpPr/>
          <p:nvPr/>
        </p:nvSpPr>
        <p:spPr>
          <a:xfrm>
            <a:off x="10170414" y="5468112"/>
            <a:ext cx="145435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B7C3CC"/>
                </a:solidFill>
                <a:effectLst/>
                <a:uLnTx/>
                <a:uFillTx/>
                <a:latin typeface="Calibri" pitchFamily="34" charset="0"/>
                <a:ea typeface="Calibri" pitchFamily="34" charset="-122"/>
                <a:cs typeface="Calibri"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Key 90"/>
          <p:cNvSpPr/>
          <p:nvPr/>
        </p:nvSpPr>
        <p:spPr>
          <a:xfrm>
            <a:off x="566928" y="5852160"/>
            <a:ext cx="11057839" cy="260000"/>
          </a:xfrm>
          <a:prstGeom prst="rect">
            <a:avLst/>
          </a:prstGeom>
          <a:noFill/>
          <a:ln/>
        </p:spPr>
        <p:txBody>
          <a:bodyPr wrap="square"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B7EA6"/>
                </a:solidFill>
                <a:effectLst/>
                <a:uLnTx/>
                <a:uFillTx/>
                <a:latin typeface="Calibri" pitchFamily="34" charset="0"/>
                <a:ea typeface="+mn-ea"/>
                <a:cs typeface="+mn-cs"/>
              </a:rPr>
              <a:t>✓</a:t>
            </a:r>
            <a:r>
              <a:rPr kumimoji="0" lang="en-US" sz="900" b="0" i="0" u="none" strike="noStrike" kern="1200" cap="none" spc="0" normalizeH="0" baseline="0" noProof="0" dirty="0">
                <a:ln>
                  <a:noFill/>
                </a:ln>
                <a:solidFill>
                  <a:srgbClr val="6B7D8C"/>
                </a:solidFill>
                <a:effectLst/>
                <a:uLnTx/>
                <a:uFillTx/>
                <a:latin typeface="Calibri" pitchFamily="34" charset="0"/>
                <a:ea typeface="+mn-ea"/>
                <a:cs typeface="+mn-cs"/>
              </a:rPr>
              <a:t> Full capability     </a:t>
            </a:r>
            <a:r>
              <a:rPr kumimoji="0" lang="en-US" sz="900" b="1" i="0" u="none" strike="noStrike" kern="1200" cap="none" spc="0" normalizeH="0" baseline="0" noProof="0" dirty="0">
                <a:ln>
                  <a:noFill/>
                </a:ln>
                <a:solidFill>
                  <a:srgbClr val="E0A640"/>
                </a:solidFill>
                <a:effectLst/>
                <a:uLnTx/>
                <a:uFillTx/>
                <a:latin typeface="Calibri" pitchFamily="34" charset="0"/>
                <a:ea typeface="+mn-ea"/>
                <a:cs typeface="+mn-cs"/>
              </a:rPr>
              <a:t>~</a:t>
            </a:r>
            <a:r>
              <a:rPr kumimoji="0" lang="en-US" sz="900" b="0" i="0" u="none" strike="noStrike" kern="1200" cap="none" spc="0" normalizeH="0" baseline="0" noProof="0" dirty="0">
                <a:ln>
                  <a:noFill/>
                </a:ln>
                <a:solidFill>
                  <a:srgbClr val="6B7D8C"/>
                </a:solidFill>
                <a:effectLst/>
                <a:uLnTx/>
                <a:uFillTx/>
                <a:latin typeface="Calibri" pitchFamily="34" charset="0"/>
                <a:ea typeface="+mn-ea"/>
                <a:cs typeface="+mn-cs"/>
              </a:rPr>
              <a:t> Partial capability     </a:t>
            </a:r>
            <a:r>
              <a:rPr kumimoji="0" lang="en-US" sz="900" b="1" i="0" u="none" strike="noStrike" kern="1200" cap="none" spc="0" normalizeH="0" baseline="0" noProof="0" dirty="0">
                <a:ln>
                  <a:noFill/>
                </a:ln>
                <a:solidFill>
                  <a:srgbClr val="B7C3CC"/>
                </a:solidFill>
                <a:effectLst/>
                <a:uLnTx/>
                <a:uFillTx/>
                <a:latin typeface="Calibri" pitchFamily="34" charset="0"/>
                <a:ea typeface="+mn-ea"/>
                <a:cs typeface="+mn-cs"/>
              </a:rPr>
              <a:t>✗</a:t>
            </a:r>
            <a:r>
              <a:rPr kumimoji="0" lang="en-US" sz="900" b="0" i="0" u="none" strike="noStrike" kern="1200" cap="none" spc="0" normalizeH="0" baseline="0" noProof="0" dirty="0">
                <a:ln>
                  <a:noFill/>
                </a:ln>
                <a:solidFill>
                  <a:srgbClr val="6B7D8C"/>
                </a:solidFill>
                <a:effectLst/>
                <a:uLnTx/>
                <a:uFillTx/>
                <a:latin typeface="Calibri" pitchFamily="34" charset="0"/>
                <a:ea typeface="+mn-ea"/>
                <a:cs typeface="+mn-cs"/>
              </a:rPr>
              <a:t> Not available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50" normalizeH="0" baseline="0" noProof="0" dirty="0">
                <a:ln>
                  <a:noFill/>
                </a:ln>
                <a:solidFill>
                  <a:srgbClr val="1B7EA6"/>
                </a:solidFill>
                <a:effectLst/>
                <a:uLnTx/>
                <a:uFillTx/>
                <a:latin typeface="Calibri" pitchFamily="34" charset="0"/>
                <a:ea typeface="Calibri" pitchFamily="34" charset="-122"/>
                <a:cs typeface="Calibri" pitchFamily="34" charset="-120"/>
              </a:rPr>
              <a:t>BUSINESS MODEL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Annual SaaS subscriptions. Mid-market pricing. 75–85% gross margin.</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AIO Fusion Ltd   ·   Pre-Seed Investment Round   ·   June 2026   ·   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08</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4"/>
          <p:cNvSpPr/>
          <p:nvPr/>
        </p:nvSpPr>
        <p:spPr>
          <a:xfrm>
            <a:off x="566928" y="1755648"/>
            <a:ext cx="3529584" cy="4370832"/>
          </a:xfrm>
          <a:prstGeom prst="roundRect">
            <a:avLst>
              <a:gd name="adj" fmla="val 1554"/>
            </a:avLst>
          </a:prstGeom>
          <a:solidFill>
            <a:srgbClr val="FFFFFF"/>
          </a:solid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841248" y="1993392"/>
            <a:ext cx="298094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V1  IN-HOUSE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822960" y="2286000"/>
            <a:ext cx="3072384"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£4,000/yr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841248" y="2907792"/>
            <a:ext cx="2980944"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£333/mo  ·  B2B &amp; B2C in-house teams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8"/>
          <p:cNvSpPr/>
          <p:nvPr/>
        </p:nvSpPr>
        <p:spPr>
          <a:xfrm>
            <a:off x="841248" y="3447288"/>
            <a:ext cx="29809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841248" y="3584448"/>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Full V1 Core Platform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841248" y="3890772"/>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Single brand / project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841248" y="4197096"/>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All 10 modules included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841248" y="4503420"/>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AI Visibility Audit + GEO scoring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841248" y="4809744"/>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Content creation + comms planning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841248" y="5116068"/>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Media intelligence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5"/>
          <p:cNvSpPr/>
          <p:nvPr/>
        </p:nvSpPr>
        <p:spPr>
          <a:xfrm>
            <a:off x="841248" y="5468112"/>
            <a:ext cx="29809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841248" y="5559552"/>
            <a:ext cx="2980944" cy="5120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CisionOne AI from £15k–£40k+/yr. AIO Fusion pays for itself in one client engagement.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7"/>
          <p:cNvSpPr/>
          <p:nvPr/>
        </p:nvSpPr>
        <p:spPr>
          <a:xfrm>
            <a:off x="4343400" y="1755648"/>
            <a:ext cx="3529584" cy="4370832"/>
          </a:xfrm>
          <a:prstGeom prst="roundRect">
            <a:avLst>
              <a:gd name="adj" fmla="val 1554"/>
            </a:avLst>
          </a:prstGeom>
          <a:solidFill>
            <a:srgbClr val="1B7EA6"/>
          </a:solidFill>
          <a:ln w="12700">
            <a:solidFill>
              <a:srgbClr val="1B7EA6"/>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8"/>
          <p:cNvSpPr/>
          <p:nvPr/>
        </p:nvSpPr>
        <p:spPr>
          <a:xfrm>
            <a:off x="6364224" y="1591056"/>
            <a:ext cx="1325880" cy="365760"/>
          </a:xfrm>
          <a:prstGeom prst="roundRect">
            <a:avLst>
              <a:gd name="adj" fmla="val 50000"/>
            </a:avLst>
          </a:prstGeom>
          <a:solidFill>
            <a:srgbClr val="0E2841"/>
          </a:solidFill>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6364224" y="1591056"/>
            <a:ext cx="13258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MOST POPULAR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4617720" y="1993392"/>
            <a:ext cx="298094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CEEF4"/>
                </a:solidFill>
                <a:effectLst/>
                <a:uLnTx/>
                <a:uFillTx/>
                <a:latin typeface="Calibri" pitchFamily="34" charset="0"/>
                <a:ea typeface="Calibri" pitchFamily="34" charset="-122"/>
                <a:cs typeface="Calibri" pitchFamily="34" charset="-120"/>
              </a:rPr>
              <a:t>V1  AGENCY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4599432" y="2286000"/>
            <a:ext cx="3072384"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£5,000/yr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2"/>
          <p:cNvSpPr/>
          <p:nvPr/>
        </p:nvSpPr>
        <p:spPr>
          <a:xfrm>
            <a:off x="4617720" y="2907792"/>
            <a:ext cx="2980944"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EF4"/>
                </a:solidFill>
                <a:effectLst/>
                <a:uLnTx/>
                <a:uFillTx/>
                <a:latin typeface="Calibri" pitchFamily="34" charset="0"/>
                <a:ea typeface="Calibri" pitchFamily="34" charset="-122"/>
                <a:cs typeface="Calibri" pitchFamily="34" charset="-120"/>
              </a:rPr>
              <a:t>£417/mo base  ·  3 projects included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3"/>
          <p:cNvSpPr/>
          <p:nvPr/>
        </p:nvSpPr>
        <p:spPr>
          <a:xfrm>
            <a:off x="4617720" y="3447288"/>
            <a:ext cx="2980944" cy="0"/>
          </a:xfrm>
          <a:prstGeom prst="line">
            <a:avLst/>
          </a:prstGeom>
          <a:noFill/>
          <a:ln w="12700">
            <a:solidFill>
              <a:srgbClr val="5BA6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4617720" y="3584448"/>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F2F9FB"/>
                </a:solidFill>
                <a:effectLst/>
                <a:uLnTx/>
                <a:uFillTx/>
                <a:latin typeface="Calibri" pitchFamily="34" charset="0"/>
                <a:ea typeface="Calibri" pitchFamily="34" charset="-122"/>
                <a:cs typeface="Calibri" pitchFamily="34" charset="-120"/>
              </a:rPr>
              <a:t>Full V1 Core Platform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4617720" y="3890772"/>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F2F9FB"/>
                </a:solidFill>
                <a:effectLst/>
                <a:uLnTx/>
                <a:uFillTx/>
                <a:latin typeface="Calibri" pitchFamily="34" charset="0"/>
                <a:ea typeface="Calibri" pitchFamily="34" charset="-122"/>
                <a:cs typeface="Calibri" pitchFamily="34" charset="-120"/>
              </a:rPr>
              <a:t>Multi-client architecture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6"/>
          <p:cNvSpPr/>
          <p:nvPr/>
        </p:nvSpPr>
        <p:spPr>
          <a:xfrm>
            <a:off x="4617720" y="4197096"/>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F2F9FB"/>
                </a:solidFill>
                <a:effectLst/>
                <a:uLnTx/>
                <a:uFillTx/>
                <a:latin typeface="Calibri" pitchFamily="34" charset="0"/>
                <a:ea typeface="Calibri" pitchFamily="34" charset="-122"/>
                <a:cs typeface="Calibri" pitchFamily="34" charset="-120"/>
              </a:rPr>
              <a:t>Agency dashboard &amp; reporting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7"/>
          <p:cNvSpPr/>
          <p:nvPr/>
        </p:nvSpPr>
        <p:spPr>
          <a:xfrm>
            <a:off x="4617720" y="4503420"/>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CEEF4"/>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 projects included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4617720" y="4809744"/>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CEEF4"/>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+£500/yr each additional project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9"/>
          <p:cNvSpPr/>
          <p:nvPr/>
        </p:nvSpPr>
        <p:spPr>
          <a:xfrm>
            <a:off x="4617720" y="5116068"/>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DCEEF4"/>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10 projects = £9,500/yr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0"/>
          <p:cNvSpPr/>
          <p:nvPr/>
        </p:nvSpPr>
        <p:spPr>
          <a:xfrm>
            <a:off x="4617720" y="5468112"/>
            <a:ext cx="2980944" cy="0"/>
          </a:xfrm>
          <a:prstGeom prst="line">
            <a:avLst/>
          </a:prstGeom>
          <a:noFill/>
          <a:ln w="12700">
            <a:solidFill>
              <a:srgbClr val="5BA6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4617720" y="5559552"/>
            <a:ext cx="2980944" cy="5120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EF4"/>
                </a:solidFill>
                <a:effectLst/>
                <a:uLnTx/>
                <a:uFillTx/>
                <a:latin typeface="Calibri" pitchFamily="34" charset="0"/>
                <a:ea typeface="Calibri" pitchFamily="34" charset="-122"/>
                <a:cs typeface="Calibri" pitchFamily="34" charset="-120"/>
              </a:rPr>
              <a:t>Typically recovered by billing a single client £500/month for AI visibility services.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8119872" y="1755648"/>
            <a:ext cx="3529584" cy="4370832"/>
          </a:xfrm>
          <a:prstGeom prst="roundRect">
            <a:avLst>
              <a:gd name="adj" fmla="val 1554"/>
            </a:avLst>
          </a:prstGeom>
          <a:solidFill>
            <a:srgbClr val="FFFFFF"/>
          </a:solid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3"/>
          <p:cNvSpPr/>
          <p:nvPr/>
        </p:nvSpPr>
        <p:spPr>
          <a:xfrm>
            <a:off x="8394192" y="1993392"/>
            <a:ext cx="298094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V2  +  AGENTIC LAYER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4"/>
          <p:cNvSpPr/>
          <p:nvPr/>
        </p:nvSpPr>
        <p:spPr>
          <a:xfrm>
            <a:off x="8375904" y="2286000"/>
            <a:ext cx="3072384"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From £7,000/yr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8394192" y="2907792"/>
            <a:ext cx="2980944"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Q2 2027  ·  20-agent OpenClaw AI team per project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6"/>
          <p:cNvSpPr/>
          <p:nvPr/>
        </p:nvSpPr>
        <p:spPr>
          <a:xfrm>
            <a:off x="8394192" y="3447288"/>
            <a:ext cx="29809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7"/>
          <p:cNvSpPr/>
          <p:nvPr/>
        </p:nvSpPr>
        <p:spPr>
          <a:xfrm>
            <a:off x="8394192" y="3584448"/>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All V1 modules, plus: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8394192" y="3890772"/>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Autonomous agent orchestration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39"/>
          <p:cNvSpPr/>
          <p:nvPr/>
        </p:nvSpPr>
        <p:spPr>
          <a:xfrm>
            <a:off x="8394192" y="4197096"/>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Always-on visibility monitoring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0"/>
          <p:cNvSpPr/>
          <p:nvPr/>
        </p:nvSpPr>
        <p:spPr>
          <a:xfrm>
            <a:off x="8394192" y="4503420"/>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Draft content + GEO fixes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1"/>
          <p:cNvSpPr/>
          <p:nvPr/>
        </p:nvSpPr>
        <p:spPr>
          <a:xfrm>
            <a:off x="8394192" y="4809744"/>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Human approval gates throughout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2"/>
          <p:cNvSpPr/>
          <p:nvPr/>
        </p:nvSpPr>
        <p:spPr>
          <a:xfrm>
            <a:off x="8394192" y="5116068"/>
            <a:ext cx="3026664"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50% off first 6 months for V1 clients upgrading to V2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3"/>
          <p:cNvSpPr/>
          <p:nvPr/>
        </p:nvSpPr>
        <p:spPr>
          <a:xfrm>
            <a:off x="8394192" y="5468112"/>
            <a:ext cx="29809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4"/>
          <p:cNvSpPr/>
          <p:nvPr/>
        </p:nvSpPr>
        <p:spPr>
          <a:xfrm>
            <a:off x="8394192" y="5559552"/>
            <a:ext cx="2980944" cy="51206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No autonomous PR agent alternative at this price. Enterprise AI deployments: £50,000–£150,000+/yr.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50" normalizeH="0" baseline="0" noProof="0" dirty="0">
                <a:ln>
                  <a:noFill/>
                </a:ln>
                <a:solidFill>
                  <a:srgbClr val="1B7EA6"/>
                </a:solidFill>
                <a:effectLst/>
                <a:uLnTx/>
                <a:uFillTx/>
                <a:latin typeface="Calibri" pitchFamily="34" charset="0"/>
                <a:ea typeface="Calibri" pitchFamily="34" charset="-122"/>
                <a:cs typeface="Calibri" pitchFamily="34" charset="-120"/>
              </a:rPr>
              <a:t>FINANCIAL PROJECTIONS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Indicative revenue projections</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AIO Fusion Ltd   ·   Pre-Seed Investment Round   ·   June 2026   ·   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09</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566928" y="1298448"/>
            <a:ext cx="8229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Annual recurring revenue — post commercial launch, November 2026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p:nvPr/>
        </p:nvSpPr>
        <p:spPr>
          <a:xfrm>
            <a:off x="658368" y="5532120"/>
            <a:ext cx="66385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6"/>
          <p:cNvSpPr/>
          <p:nvPr/>
        </p:nvSpPr>
        <p:spPr>
          <a:xfrm>
            <a:off x="749808" y="5440680"/>
            <a:ext cx="1188720" cy="91440"/>
          </a:xfrm>
          <a:prstGeom prst="roundRect">
            <a:avLst>
              <a:gd name="adj" fmla="val 40000"/>
            </a:avLst>
          </a:prstGeom>
          <a:solidFill>
            <a:srgbClr val="7FB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521208" y="5056632"/>
            <a:ext cx="1645920" cy="34747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£25k</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521208" y="5605272"/>
            <a:ext cx="16459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H2 2026</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521208" y="5879592"/>
            <a:ext cx="1645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Beta / Launch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2505456" y="5002120"/>
            <a:ext cx="1188720" cy="530000"/>
          </a:xfrm>
          <a:prstGeom prst="roundRect">
            <a:avLst>
              <a:gd name="adj" fmla="val 13100"/>
            </a:avLst>
          </a:prstGeom>
          <a:solidFill>
            <a:srgbClr val="7FB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2276856" y="4618072"/>
            <a:ext cx="16459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£900k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2276856" y="5605272"/>
            <a:ext cx="16459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2027</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2276856" y="5879592"/>
            <a:ext cx="1645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Year 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4261104" y="3766060"/>
            <a:ext cx="1188720" cy="1766060"/>
          </a:xfrm>
          <a:prstGeom prst="roundRect">
            <a:avLst>
              <a:gd name="adj" fmla="val 3077"/>
            </a:avLst>
          </a:prstGeom>
          <a:solidFill>
            <a:srgbClr val="12536E"/>
          </a:solidFill>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4032504" y="3382012"/>
            <a:ext cx="16459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£3.0M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4032504" y="5605272"/>
            <a:ext cx="16459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2028</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4032504" y="5879592"/>
            <a:ext cx="1645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Year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8"/>
          <p:cNvSpPr/>
          <p:nvPr/>
        </p:nvSpPr>
        <p:spPr>
          <a:xfrm>
            <a:off x="6016752" y="2000000"/>
            <a:ext cx="1188720" cy="3532120"/>
          </a:xfrm>
          <a:prstGeom prst="roundRect">
            <a:avLst>
              <a:gd name="adj" fmla="val 3077"/>
            </a:avLst>
          </a:prstGeom>
          <a:solidFill>
            <a:srgbClr val="1B7EA6"/>
          </a:solidFill>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5788152" y="1615952"/>
            <a:ext cx="16459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£6.0M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5788152" y="5605272"/>
            <a:ext cx="16459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2029</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5788152" y="5879592"/>
            <a:ext cx="164592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Year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2"/>
          <p:cNvSpPr/>
          <p:nvPr/>
        </p:nvSpPr>
        <p:spPr>
          <a:xfrm>
            <a:off x="7818120" y="1874520"/>
            <a:ext cx="3806647" cy="841248"/>
          </a:xfrm>
          <a:prstGeom prst="roundRect">
            <a:avLst>
              <a:gd name="adj" fmla="val 6522"/>
            </a:avLst>
          </a:prstGeom>
          <a:solidFill>
            <a:srgbClr val="EAF3F7"/>
          </a:solid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3"/>
          <p:cNvSpPr/>
          <p:nvPr/>
        </p:nvSpPr>
        <p:spPr>
          <a:xfrm>
            <a:off x="8037576" y="1984248"/>
            <a:ext cx="3440887"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1B7EA6"/>
                </a:solidFill>
                <a:effectLst/>
                <a:uLnTx/>
                <a:uFillTx/>
                <a:latin typeface="Calibri" pitchFamily="34" charset="0"/>
                <a:ea typeface="Calibri" pitchFamily="34" charset="-122"/>
                <a:cs typeface="Calibri" pitchFamily="34" charset="-120"/>
              </a:rPr>
              <a:t>YEAR 1–2 UK SOM</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8037576" y="2203704"/>
            <a:ext cx="3440887"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100–300 clients  ·  £635k–£3.9M ARR (incl. US)</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5"/>
          <p:cNvSpPr/>
          <p:nvPr/>
        </p:nvSpPr>
        <p:spPr>
          <a:xfrm>
            <a:off x="7818120" y="2843784"/>
            <a:ext cx="3806647" cy="841248"/>
          </a:xfrm>
          <a:prstGeom prst="roundRect">
            <a:avLst>
              <a:gd name="adj" fmla="val 6522"/>
            </a:avLst>
          </a:prstGeom>
          <a:solidFill>
            <a:srgbClr val="FFFFFF"/>
          </a:solid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6"/>
          <p:cNvSpPr/>
          <p:nvPr/>
        </p:nvSpPr>
        <p:spPr>
          <a:xfrm>
            <a:off x="8037576" y="2953512"/>
            <a:ext cx="3440887"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1B7EA6"/>
                </a:solidFill>
                <a:effectLst/>
                <a:uLnTx/>
                <a:uFillTx/>
                <a:latin typeface="Calibri" pitchFamily="34" charset="0"/>
                <a:ea typeface="Calibri" pitchFamily="34" charset="-122"/>
                <a:cs typeface="Calibri" pitchFamily="34" charset="-120"/>
              </a:rPr>
              <a:t>AVERAGE ARR / CLIENT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7"/>
          <p:cNvSpPr/>
          <p:nvPr/>
        </p:nvSpPr>
        <p:spPr>
          <a:xfrm>
            <a:off x="8037576" y="3172968"/>
            <a:ext cx="3440887"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£8,500/yr agencies  ·  £4,000/yr in-house</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8"/>
          <p:cNvSpPr/>
          <p:nvPr/>
        </p:nvSpPr>
        <p:spPr>
          <a:xfrm>
            <a:off x="7818120" y="3813048"/>
            <a:ext cx="3806647" cy="841248"/>
          </a:xfrm>
          <a:prstGeom prst="roundRect">
            <a:avLst>
              <a:gd name="adj" fmla="val 6522"/>
            </a:avLst>
          </a:prstGeom>
          <a:solidFill>
            <a:srgbClr val="FFFFFF"/>
          </a:solid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9"/>
          <p:cNvSpPr/>
          <p:nvPr/>
        </p:nvSpPr>
        <p:spPr>
          <a:xfrm>
            <a:off x="8037576" y="3922776"/>
            <a:ext cx="3440887"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1B7EA6"/>
                </a:solidFill>
                <a:effectLst/>
                <a:uLnTx/>
                <a:uFillTx/>
                <a:latin typeface="Calibri" pitchFamily="34" charset="0"/>
                <a:ea typeface="Calibri" pitchFamily="34" charset="-122"/>
                <a:cs typeface="Calibri" pitchFamily="34" charset="-120"/>
              </a:rPr>
              <a:t>GROSS MARGIN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8037576" y="4142232"/>
            <a:ext cx="3440887" cy="457200"/>
          </a:xfrm>
          <a:prstGeom prst="rect">
            <a:avLst/>
          </a:prstGeom>
          <a:noFill/>
          <a:ln/>
        </p:spPr>
        <p:txBody>
          <a:bodyPr wrap="square" lIns="0" tIns="0" rIns="0" bIns="0"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75–85%  </a:t>
            </a: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at scale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1"/>
          <p:cNvSpPr/>
          <p:nvPr/>
        </p:nvSpPr>
        <p:spPr>
          <a:xfrm>
            <a:off x="7818120" y="4782312"/>
            <a:ext cx="3806647" cy="841248"/>
          </a:xfrm>
          <a:prstGeom prst="roundRect">
            <a:avLst>
              <a:gd name="adj" fmla="val 6522"/>
            </a:avLst>
          </a:prstGeom>
          <a:solidFill>
            <a:srgbClr val="FFFFFF"/>
          </a:solid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2"/>
          <p:cNvSpPr/>
          <p:nvPr/>
        </p:nvSpPr>
        <p:spPr>
          <a:xfrm>
            <a:off x="8037576" y="4892040"/>
            <a:ext cx="3440887"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1B7EA6"/>
                </a:solidFill>
                <a:effectLst/>
                <a:uLnTx/>
                <a:uFillTx/>
                <a:latin typeface="Calibri" pitchFamily="34" charset="0"/>
                <a:ea typeface="Calibri" pitchFamily="34" charset="-122"/>
                <a:cs typeface="Calibri" pitchFamily="34" charset="-120"/>
              </a:rPr>
              <a:t>BREAKEVEN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3"/>
          <p:cNvSpPr/>
          <p:nvPr/>
        </p:nvSpPr>
        <p:spPr>
          <a:xfrm>
            <a:off x="8037576" y="5111496"/>
            <a:ext cx="3440887"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Year 2  —  ~105 V2 clients (avg £7,600/yr)</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4"/>
          <p:cNvSpPr/>
          <p:nvPr/>
        </p:nvSpPr>
        <p:spPr>
          <a:xfrm>
            <a:off x="566928" y="6199632"/>
            <a:ext cx="11057839"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Projections include UK V1, UK V2 (from Q2 2027) and US entry from Q3 2027. Seed round trigger at £500k+ ARR (target Q3 2027 base case / Q2 2028 at 60% of plan).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50" normalizeH="0" baseline="0" noProof="0" dirty="0">
                <a:ln>
                  <a:noFill/>
                </a:ln>
                <a:solidFill>
                  <a:srgbClr val="1B7EA6"/>
                </a:solidFill>
                <a:effectLst/>
                <a:uLnTx/>
                <a:uFillTx/>
                <a:latin typeface="Calibri" pitchFamily="34" charset="0"/>
                <a:ea typeface="Calibri" pitchFamily="34" charset="-122"/>
                <a:cs typeface="Calibri" pitchFamily="34" charset="-120"/>
              </a:rPr>
              <a:t>GO-TO-MARKET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Three-phase route to market. A 12–18 month window.</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AIO Fusion Ltd   ·   Pre-Seed Investment Round   ·   June 2026   ·   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10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4"/>
          <p:cNvSpPr/>
          <p:nvPr/>
        </p:nvSpPr>
        <p:spPr>
          <a:xfrm>
            <a:off x="566928" y="1783080"/>
            <a:ext cx="3529584" cy="416052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p:nvPr/>
        </p:nvSpPr>
        <p:spPr>
          <a:xfrm>
            <a:off x="566928" y="1783080"/>
            <a:ext cx="3529584" cy="36576"/>
          </a:xfrm>
          <a:prstGeom prst="rect">
            <a:avLst/>
          </a:prstGeom>
          <a:solidFill>
            <a:srgbClr val="1B7E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822960" y="2002536"/>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50" normalizeH="0" baseline="0" noProof="0" dirty="0">
                <a:ln>
                  <a:noFill/>
                </a:ln>
                <a:solidFill>
                  <a:srgbClr val="1B7EA6"/>
                </a:solidFill>
                <a:effectLst/>
                <a:uLnTx/>
                <a:uFillTx/>
                <a:latin typeface="Calibri" pitchFamily="34" charset="0"/>
                <a:ea typeface="Calibri" pitchFamily="34" charset="-122"/>
                <a:cs typeface="Calibri" pitchFamily="34" charset="-120"/>
              </a:rPr>
              <a:t>PHASE 1  </a:t>
            </a:r>
            <a:r>
              <a:rPr kumimoji="0" lang="en-US" sz="1100" b="0" i="0" u="none" strike="noStrike" kern="0" cap="none" spc="50" normalizeH="0" baseline="0" noProof="0" dirty="0">
                <a:ln>
                  <a:noFill/>
                </a:ln>
                <a:solidFill>
                  <a:srgbClr val="5E7180"/>
                </a:solidFill>
                <a:effectLst/>
                <a:uLnTx/>
                <a:uFillTx/>
                <a:latin typeface="Calibri" pitchFamily="34" charset="0"/>
                <a:ea typeface="Calibri" pitchFamily="34" charset="-122"/>
                <a:cs typeface="Calibri" pitchFamily="34" charset="-120"/>
              </a:rPr>
              <a:t>·  Jul–Oct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822960" y="2295144"/>
            <a:ext cx="3072384"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Early Access Programme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8"/>
          <p:cNvSpPr/>
          <p:nvPr/>
        </p:nvSpPr>
        <p:spPr>
          <a:xfrm>
            <a:off x="822960" y="2752344"/>
            <a:ext cx="3017520"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822960" y="2898648"/>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15+ Early Access Partners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822960" y="3396996"/>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Weighted to in-house teams (faster onboarding)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822960" y="3895344"/>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Structured feedback + case studies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822960" y="4393692"/>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Target: 10+ conversions to paid V1 at launch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822960" y="4892040"/>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Founder network + PRCA / CIPR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822960" y="5390388"/>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LinkedIn direct outreach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5"/>
          <p:cNvSpPr/>
          <p:nvPr/>
        </p:nvSpPr>
        <p:spPr>
          <a:xfrm>
            <a:off x="4343400" y="1783080"/>
            <a:ext cx="3529584" cy="416052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4343400" y="1783080"/>
            <a:ext cx="3529584" cy="36576"/>
          </a:xfrm>
          <a:prstGeom prst="rect">
            <a:avLst/>
          </a:prstGeom>
          <a:solidFill>
            <a:srgbClr val="1B7E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4599432" y="2002536"/>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50" normalizeH="0" baseline="0" noProof="0" dirty="0">
                <a:ln>
                  <a:noFill/>
                </a:ln>
                <a:solidFill>
                  <a:srgbClr val="1B7EA6"/>
                </a:solidFill>
                <a:effectLst/>
                <a:uLnTx/>
                <a:uFillTx/>
                <a:latin typeface="Calibri" pitchFamily="34" charset="0"/>
                <a:ea typeface="Calibri" pitchFamily="34" charset="-122"/>
                <a:cs typeface="Calibri" pitchFamily="34" charset="-120"/>
              </a:rPr>
              <a:t>PHASE 2  </a:t>
            </a:r>
            <a:r>
              <a:rPr kumimoji="0" lang="en-US" sz="1100" b="0" i="0" u="none" strike="noStrike" kern="0" cap="none" spc="50" normalizeH="0" baseline="0" noProof="0" dirty="0">
                <a:ln>
                  <a:noFill/>
                </a:ln>
                <a:solidFill>
                  <a:srgbClr val="5E7180"/>
                </a:solidFill>
                <a:effectLst/>
                <a:uLnTx/>
                <a:uFillTx/>
                <a:latin typeface="Calibri" pitchFamily="34" charset="0"/>
                <a:ea typeface="Calibri" pitchFamily="34" charset="-122"/>
                <a:cs typeface="Calibri" pitchFamily="34" charset="-120"/>
              </a:rPr>
              <a:t>·  Nov 2026 – Q2 2027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8"/>
          <p:cNvSpPr/>
          <p:nvPr/>
        </p:nvSpPr>
        <p:spPr>
          <a:xfrm>
            <a:off x="4599432" y="2295144"/>
            <a:ext cx="3072384"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UK Commercial Launch</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9"/>
          <p:cNvSpPr/>
          <p:nvPr/>
        </p:nvSpPr>
        <p:spPr>
          <a:xfrm>
            <a:off x="4599432" y="2752344"/>
            <a:ext cx="3017520"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4599432" y="2898648"/>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3-person sales team (Commercial Director + 2 SMs)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4599432" y="3396996"/>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LinkedIn sponsored content £1k/month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2"/>
          <p:cNvSpPr/>
          <p:nvPr/>
        </p:nvSpPr>
        <p:spPr>
          <a:xfrm>
            <a:off x="4599432" y="3895344"/>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Events: PR Week Awards, PRCA, The Drum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3"/>
          <p:cNvSpPr/>
          <p:nvPr/>
        </p:nvSpPr>
        <p:spPr>
          <a:xfrm>
            <a:off x="4599432" y="4393692"/>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Annual B2B research report (earned media + leads)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4599432" y="4892040"/>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PRCA Technology Partner accreditation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4599432" y="5390388"/>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Target 100–150 clients by end of Year 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6"/>
          <p:cNvSpPr/>
          <p:nvPr/>
        </p:nvSpPr>
        <p:spPr>
          <a:xfrm>
            <a:off x="8119872" y="1783080"/>
            <a:ext cx="3529584" cy="416052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7"/>
          <p:cNvSpPr/>
          <p:nvPr/>
        </p:nvSpPr>
        <p:spPr>
          <a:xfrm>
            <a:off x="8119872" y="1783080"/>
            <a:ext cx="3529584" cy="36576"/>
          </a:xfrm>
          <a:prstGeom prst="rect">
            <a:avLst/>
          </a:prstGeom>
          <a:solidFill>
            <a:srgbClr val="5C9A6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8375904" y="2002536"/>
            <a:ext cx="307238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50" normalizeH="0" baseline="0" noProof="0" dirty="0">
                <a:ln>
                  <a:noFill/>
                </a:ln>
                <a:solidFill>
                  <a:srgbClr val="1B7EA6"/>
                </a:solidFill>
                <a:effectLst/>
                <a:uLnTx/>
                <a:uFillTx/>
                <a:latin typeface="Calibri" pitchFamily="34" charset="0"/>
                <a:ea typeface="Calibri" pitchFamily="34" charset="-122"/>
                <a:cs typeface="Calibri" pitchFamily="34" charset="-120"/>
              </a:rPr>
              <a:t>PHASE 3  </a:t>
            </a:r>
            <a:r>
              <a:rPr kumimoji="0" lang="en-US" sz="1100" b="0" i="0" u="none" strike="noStrike" kern="0" cap="none" spc="50" normalizeH="0" baseline="0" noProof="0" dirty="0">
                <a:ln>
                  <a:noFill/>
                </a:ln>
                <a:solidFill>
                  <a:srgbClr val="5E7180"/>
                </a:solidFill>
                <a:effectLst/>
                <a:uLnTx/>
                <a:uFillTx/>
                <a:latin typeface="Calibri" pitchFamily="34" charset="0"/>
                <a:ea typeface="Calibri" pitchFamily="34" charset="-122"/>
                <a:cs typeface="Calibri" pitchFamily="34" charset="-120"/>
              </a:rPr>
              <a:t>·  Q3 2027+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9"/>
          <p:cNvSpPr/>
          <p:nvPr/>
        </p:nvSpPr>
        <p:spPr>
          <a:xfrm>
            <a:off x="8375904" y="2295144"/>
            <a:ext cx="3072384"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US Market Entry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0"/>
          <p:cNvSpPr/>
          <p:nvPr/>
        </p:nvSpPr>
        <p:spPr>
          <a:xfrm>
            <a:off x="8375904" y="2752344"/>
            <a:ext cx="3017520"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8375904" y="2898648"/>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US Sales Lead hired Q2 2027 (remote)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2"/>
          <p:cNvSpPr/>
          <p:nvPr/>
        </p:nvSpPr>
        <p:spPr>
          <a:xfrm>
            <a:off x="8375904" y="3396996"/>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Soft launch via LinkedIn + direct outreach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3"/>
          <p:cNvSpPr/>
          <p:nvPr/>
        </p:nvSpPr>
        <p:spPr>
          <a:xfrm>
            <a:off x="8375904" y="3895344"/>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USD pricing at 15% premium to UK rates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4"/>
          <p:cNvSpPr/>
          <p:nvPr/>
        </p:nvSpPr>
        <p:spPr>
          <a:xfrm>
            <a:off x="8375904" y="4393692"/>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Structured launch Q4 2027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8375904" y="4892040"/>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2 US Sales Managers from Q1 2028</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6"/>
          <p:cNvSpPr/>
          <p:nvPr/>
        </p:nvSpPr>
        <p:spPr>
          <a:xfrm>
            <a:off x="8375904" y="5390388"/>
            <a:ext cx="3054096" cy="47548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10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14,000+ US agencies; 17,500–28,000 in-house teams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50" normalizeH="0" baseline="0" noProof="0" dirty="0">
                <a:ln>
                  <a:noFill/>
                </a:ln>
                <a:solidFill>
                  <a:srgbClr val="1B7EA6"/>
                </a:solidFill>
                <a:effectLst/>
                <a:uLnTx/>
                <a:uFillTx/>
                <a:latin typeface="Calibri" pitchFamily="34" charset="0"/>
                <a:ea typeface="Calibri" pitchFamily="34" charset="-122"/>
                <a:cs typeface="Calibri" pitchFamily="34" charset="-120"/>
              </a:rPr>
              <a:t>FOUNDING TEAM</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Designed by practitioners. Built with proven expertise.</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AIO Fusion Ltd   ·   Pre-Seed Investment Round   ·   June 2026   ·   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11</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4"/>
          <p:cNvSpPr/>
          <p:nvPr/>
        </p:nvSpPr>
        <p:spPr>
          <a:xfrm>
            <a:off x="566928" y="1755648"/>
            <a:ext cx="3529584" cy="452628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a:spLocks noChangeAspect="1"/>
          </p:cNvSpPr>
          <p:nvPr/>
        </p:nvSpPr>
        <p:spPr>
          <a:xfrm>
            <a:off x="841248" y="2048256"/>
            <a:ext cx="749808" cy="749808"/>
          </a:xfrm>
          <a:prstGeom prst="ellipse">
            <a:avLst/>
          </a:prstGeom>
          <a:blipFill dpi="0" rotWithShape="1">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rcRect/>
            <a:stretch>
              <a:fillRect/>
            </a:stretch>
          </a:bli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841248" y="2048256"/>
            <a:ext cx="749808" cy="7498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1682496" y="2066544"/>
            <a:ext cx="2203704"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Patrick Barrett</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1682496" y="2432304"/>
            <a:ext cx="2231136" cy="310896"/>
          </a:xfrm>
          <a:prstGeom prst="rect">
            <a:avLst/>
          </a:prstGeom>
          <a:noFill/>
          <a:ln/>
        </p:spPr>
        <p:txBody>
          <a:bodyPr wrap="square" lIns="0" tIns="0" rIns="0" bIns="0"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900" b="1" i="0" u="none" strike="noStrike" kern="0" cap="none" spc="80" normalizeH="0" baseline="0" noProof="0" dirty="0">
                <a:ln>
                  <a:noFill/>
                </a:ln>
                <a:solidFill>
                  <a:srgbClr val="1B7EA6"/>
                </a:solidFill>
                <a:effectLst/>
                <a:uLnTx/>
                <a:uFillTx/>
                <a:latin typeface="Calibri" pitchFamily="34" charset="0"/>
                <a:ea typeface="Calibri" pitchFamily="34" charset="-122"/>
                <a:cs typeface="Calibri" pitchFamily="34" charset="-120"/>
              </a:rPr>
              <a:t>CEO / CO-FOUNDER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841248" y="2980944"/>
            <a:ext cx="2980944" cy="1828800"/>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Media and marketing and tech thought leader with more than 30 years in B2B PR and journalism. Former Editor of Media Week and journalist on The Guardian Media section. Founded Simpatico PR (2010); clients include Accenture, WPP companies, Dentsu, GumGum, Unilever, MyPOS, Dixa. </a:t>
            </a: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Concept originator and product architect of AIO Fusion; leads product strategy, go-to-market and investor relations.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841248" y="4800600"/>
            <a:ext cx="29809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841248" y="4928616"/>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30 yrs PR &amp; media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841248" y="5244084"/>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Editor, Media Week</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841248" y="5559552"/>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Guardian journalist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841248" y="5875020"/>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Founded Simpatico PR (2010)</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5"/>
          <p:cNvSpPr/>
          <p:nvPr/>
        </p:nvSpPr>
        <p:spPr>
          <a:xfrm>
            <a:off x="4343400" y="1755648"/>
            <a:ext cx="3529584" cy="452628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4617720" y="2048256"/>
            <a:ext cx="749808" cy="749808"/>
          </a:xfrm>
          <a:prstGeom prst="ellipse">
            <a:avLst/>
          </a:prstGeom>
          <a:blipFill dpi="0" rotWithShape="1">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rcRect/>
            <a:stretch>
              <a:fillRect/>
            </a:stretch>
          </a:bli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4617720" y="2048256"/>
            <a:ext cx="749808" cy="7498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8"/>
          <p:cNvSpPr/>
          <p:nvPr/>
        </p:nvSpPr>
        <p:spPr>
          <a:xfrm>
            <a:off x="5458968" y="2066544"/>
            <a:ext cx="2203704"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Natalie Linder</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5458968" y="2432304"/>
            <a:ext cx="2231136" cy="310896"/>
          </a:xfrm>
          <a:prstGeom prst="rect">
            <a:avLst/>
          </a:prstGeom>
          <a:noFill/>
          <a:ln/>
        </p:spPr>
        <p:txBody>
          <a:bodyPr wrap="square" lIns="0" tIns="0" rIns="0" bIns="0"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900" b="1" i="0" u="none" strike="noStrike" kern="0" cap="none" spc="80" normalizeH="0" baseline="0" noProof="0" dirty="0">
                <a:ln>
                  <a:noFill/>
                </a:ln>
                <a:solidFill>
                  <a:srgbClr val="1B7EA6"/>
                </a:solidFill>
                <a:effectLst/>
                <a:uLnTx/>
                <a:uFillTx/>
                <a:latin typeface="Calibri" pitchFamily="34" charset="0"/>
                <a:ea typeface="Calibri" pitchFamily="34" charset="-122"/>
                <a:cs typeface="Calibri" pitchFamily="34" charset="-120"/>
              </a:rPr>
              <a:t>CO-FOUNDER / CHIEF PRODUCT &amp; EXPERIENCE OFFICER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4617720" y="2980944"/>
            <a:ext cx="2980944" cy="1828800"/>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Regional journalist and researcher at Anglia Television. Founded and ran an award-winning hospitality business (2009–2016). Returned to B2B PR across fintech and professional-services SaaS; Senior Consultant at Simpatico PR since 2022. </a:t>
            </a:r>
          </a:p>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Leads product design, UX and client workflow, with direct practitioner knowledge of how PR teams and business marketers work and use PR software.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1"/>
          <p:cNvSpPr/>
          <p:nvPr/>
        </p:nvSpPr>
        <p:spPr>
          <a:xfrm>
            <a:off x="4617720" y="4800600"/>
            <a:ext cx="29809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2"/>
          <p:cNvSpPr/>
          <p:nvPr/>
        </p:nvSpPr>
        <p:spPr>
          <a:xfrm>
            <a:off x="4617720" y="4928616"/>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Experienced Journalist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3"/>
          <p:cNvSpPr/>
          <p:nvPr/>
        </p:nvSpPr>
        <p:spPr>
          <a:xfrm>
            <a:off x="4617720" y="5244084"/>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Hospitality founder, exit 2016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4617720" y="5559552"/>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B2B PR: fintech &amp; SaaS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4617720" y="5875020"/>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Platform UX architect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6"/>
          <p:cNvSpPr/>
          <p:nvPr/>
        </p:nvSpPr>
        <p:spPr>
          <a:xfrm>
            <a:off x="8119872" y="1755648"/>
            <a:ext cx="3529584" cy="4526280"/>
          </a:xfrm>
          <a:prstGeom prst="roundRect">
            <a:avLst>
              <a:gd name="adj" fmla="val 1554"/>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7"/>
          <p:cNvSpPr/>
          <p:nvPr/>
        </p:nvSpPr>
        <p:spPr>
          <a:xfrm>
            <a:off x="8394192" y="2048256"/>
            <a:ext cx="749808" cy="749808"/>
          </a:xfrm>
          <a:prstGeom prst="ellipse">
            <a:avLst/>
          </a:prstGeom>
          <a:blipFill dpi="0" rotWithShape="1">
            <a:blip r:embed="rId9">
              <a:extLst>
                <a:ext uri="{BEBA8EAE-BF5A-486C-A8C5-ECC9F3942E4B}">
                  <a14:imgProps xmlns:a14="http://schemas.microsoft.com/office/drawing/2010/main">
                    <a14:imgLayer r:embed="rId10">
                      <a14:imgEffect>
                        <a14:saturation sat="0"/>
                      </a14:imgEffect>
                    </a14:imgLayer>
                  </a14:imgProps>
                </a:ext>
                <a:ext uri="{28A0092B-C50C-407E-A947-70E740481C1C}">
                  <a14:useLocalDpi xmlns:a14="http://schemas.microsoft.com/office/drawing/2010/main" val="0"/>
                </a:ext>
              </a:extLst>
            </a:blip>
            <a:srcRect/>
            <a:stretch>
              <a:fillRect/>
            </a:stretch>
          </a:bli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8394192" y="2048256"/>
            <a:ext cx="749808" cy="7498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9"/>
          <p:cNvSpPr/>
          <p:nvPr/>
        </p:nvSpPr>
        <p:spPr>
          <a:xfrm>
            <a:off x="9235440" y="2066544"/>
            <a:ext cx="2203704"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Spencer Gallagher</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9235440" y="2432304"/>
            <a:ext cx="2231136" cy="310896"/>
          </a:xfrm>
          <a:prstGeom prst="rect">
            <a:avLst/>
          </a:prstGeom>
          <a:noFill/>
          <a:ln/>
        </p:spPr>
        <p:txBody>
          <a:bodyPr wrap="square" lIns="0" tIns="0" rIns="0" bIns="0"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900" b="1" i="0" u="none" strike="noStrike" kern="0" cap="none" spc="80" normalizeH="0" baseline="0" noProof="0" dirty="0">
                <a:ln>
                  <a:noFill/>
                </a:ln>
                <a:solidFill>
                  <a:srgbClr val="1B7EA6"/>
                </a:solidFill>
                <a:effectLst/>
                <a:uLnTx/>
                <a:uFillTx/>
                <a:latin typeface="Calibri" pitchFamily="34" charset="0"/>
                <a:ea typeface="Calibri" pitchFamily="34" charset="-122"/>
                <a:cs typeface="Calibri" pitchFamily="34" charset="-120"/>
              </a:rPr>
              <a:t>TECHNICAL LEAD &amp; HEAD OF PLATFORM DEVELOPMENT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8394192" y="2980944"/>
            <a:ext cx="2980944" cy="1828800"/>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AIO Fusion’s contracted Technical Lead, responsible for platform architecture, AI integration, and development delivery through V1 and the V2 agentic build. Also briefed to recruit AIO Fusion’s in-house development team. Founding Partner at Bluhalo — built from a digital agency founded in 1999 into a top-10 UK agency before a successful exit in 2008. Co-author of Agencynomics. Bluhalo’s Agentic Agency OS makes Spencer uniquely qualified to lead AIO Fusion’s agentic platform development. </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8394192" y="4800600"/>
            <a:ext cx="2980944" cy="0"/>
          </a:xfrm>
          <a:prstGeom prst="line">
            <a:avLst/>
          </a:prstGeom>
          <a:noFill/>
          <a:ln w="12700">
            <a:solidFill>
              <a:srgbClr val="D7E2E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3"/>
          <p:cNvSpPr/>
          <p:nvPr/>
        </p:nvSpPr>
        <p:spPr>
          <a:xfrm>
            <a:off x="8394192" y="4928616"/>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Founder, Bluhalo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4"/>
          <p:cNvSpPr/>
          <p:nvPr/>
        </p:nvSpPr>
        <p:spPr>
          <a:xfrm>
            <a:off x="8394192" y="5244084"/>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Co-author, Agencynomics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8394192" y="5559552"/>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Technical lead (contracted)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6"/>
          <p:cNvSpPr/>
          <p:nvPr/>
        </p:nvSpPr>
        <p:spPr>
          <a:xfrm>
            <a:off x="8394192" y="5875020"/>
            <a:ext cx="3026664"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B7EA6"/>
                </a:solidFill>
                <a:effectLst/>
                <a:uLnTx/>
                <a:uFillTx/>
                <a:latin typeface="Calibri" pitchFamily="34" charset="0"/>
                <a:ea typeface="Calibri" pitchFamily="34" charset="-122"/>
                <a:cs typeface="Calibri" pitchFamily="34" charset="-120"/>
              </a:rPr>
              <a:t>✓  </a:t>
            </a:r>
            <a:r>
              <a:rPr kumimoji="0" lang="en-US" sz="10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Agentic AI specialist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5">
            <a:hlinkClick r:id="rId11"/>
            <a:extLst>
              <a:ext uri="{FF2B5EF4-FFF2-40B4-BE49-F238E27FC236}">
                <a16:creationId xmlns:a16="http://schemas.microsoft.com/office/drawing/2014/main" id="{03111E5A-FCE7-CFF8-30CD-D01FBEE5AD5F}"/>
              </a:ext>
            </a:extLst>
          </p:cNvPr>
          <p:cNvSpPr>
            <a:spLocks noChangeAspect="1"/>
          </p:cNvSpPr>
          <p:nvPr/>
        </p:nvSpPr>
        <p:spPr>
          <a:xfrm>
            <a:off x="3163824" y="4914900"/>
            <a:ext cx="749808" cy="749808"/>
          </a:xfrm>
          <a:prstGeom prst="ellipse">
            <a:avLst/>
          </a:prstGeom>
          <a:blipFill dpi="0" rotWithShape="1">
            <a:blip r:embed="rId12">
              <a:extLst>
                <a:ext uri="{28A0092B-C50C-407E-A947-70E740481C1C}">
                  <a14:useLocalDpi xmlns:a14="http://schemas.microsoft.com/office/drawing/2010/main" val="0"/>
                </a:ext>
              </a:extLst>
            </a:blip>
            <a:srcRect/>
            <a:stretch>
              <a:fillRect/>
            </a:stretch>
          </a:bli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5">
            <a:hlinkClick r:id="rId13"/>
            <a:extLst>
              <a:ext uri="{FF2B5EF4-FFF2-40B4-BE49-F238E27FC236}">
                <a16:creationId xmlns:a16="http://schemas.microsoft.com/office/drawing/2014/main" id="{4A0A3EED-4BEC-C68F-1E08-658F4F475045}"/>
              </a:ext>
            </a:extLst>
          </p:cNvPr>
          <p:cNvSpPr>
            <a:spLocks noChangeAspect="1"/>
          </p:cNvSpPr>
          <p:nvPr/>
        </p:nvSpPr>
        <p:spPr>
          <a:xfrm>
            <a:off x="6937248" y="4852416"/>
            <a:ext cx="749808" cy="749808"/>
          </a:xfrm>
          <a:prstGeom prst="ellipse">
            <a:avLst/>
          </a:prstGeom>
          <a:blipFill dpi="0" rotWithShape="1">
            <a:blip r:embed="rId12">
              <a:extLst>
                <a:ext uri="{28A0092B-C50C-407E-A947-70E740481C1C}">
                  <a14:useLocalDpi xmlns:a14="http://schemas.microsoft.com/office/drawing/2010/main" val="0"/>
                </a:ext>
              </a:extLst>
            </a:blip>
            <a:srcRect/>
            <a:stretch>
              <a:fillRect/>
            </a:stretch>
          </a:bli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5">
            <a:hlinkClick r:id="rId14"/>
            <a:extLst>
              <a:ext uri="{FF2B5EF4-FFF2-40B4-BE49-F238E27FC236}">
                <a16:creationId xmlns:a16="http://schemas.microsoft.com/office/drawing/2014/main" id="{9A90F10C-31F4-616D-C749-DDBB8F0BBBDF}"/>
              </a:ext>
            </a:extLst>
          </p:cNvPr>
          <p:cNvSpPr>
            <a:spLocks noChangeAspect="1"/>
          </p:cNvSpPr>
          <p:nvPr/>
        </p:nvSpPr>
        <p:spPr>
          <a:xfrm>
            <a:off x="10716768" y="4852416"/>
            <a:ext cx="749808" cy="749808"/>
          </a:xfrm>
          <a:prstGeom prst="ellipse">
            <a:avLst/>
          </a:prstGeom>
          <a:blipFill dpi="0" rotWithShape="1">
            <a:blip r:embed="rId12">
              <a:extLst>
                <a:ext uri="{28A0092B-C50C-407E-A947-70E740481C1C}">
                  <a14:useLocalDpi xmlns:a14="http://schemas.microsoft.com/office/drawing/2010/main" val="0"/>
                </a:ext>
              </a:extLst>
            </a:blip>
            <a:srcRect/>
            <a:stretch>
              <a:fillRect/>
            </a:stretch>
          </a:bli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alphaModFix amt="45000"/>
          </a:blip>
          <a:stretch>
            <a:fillRect/>
          </a:stretch>
        </p:blipFill>
        <p:spPr>
          <a:xfrm>
            <a:off x="0" y="0"/>
            <a:ext cx="12191695" cy="6858000"/>
          </a:xfrm>
          <a:prstGeom prst="rect">
            <a:avLst/>
          </a:prstGeom>
        </p:spPr>
      </p:pic>
      <p:pic>
        <p:nvPicPr>
          <p:cNvPr id="3" name="Image 1" descr="/sessions/gallant-ecstatic-ramanujan/mnt/outputs/build/assets/wordmark.png"/>
          <p:cNvPicPr>
            <a:picLocks noChangeAspect="1"/>
          </p:cNvPicPr>
          <p:nvPr/>
        </p:nvPicPr>
        <p:blipFill>
          <a:blip r:embed="rId4"/>
          <a:stretch>
            <a:fillRect/>
          </a:stretch>
        </p:blipFill>
        <p:spPr>
          <a:xfrm>
            <a:off x="10042855" y="301752"/>
            <a:ext cx="1627632" cy="365760"/>
          </a:xfrm>
          <a:prstGeom prst="rect">
            <a:avLst/>
          </a:prstGeom>
        </p:spPr>
      </p:pic>
      <p:sp>
        <p:nvSpPr>
          <p:cNvPr id="4" name="Text 0"/>
          <p:cNvSpPr/>
          <p:nvPr/>
        </p:nvSpPr>
        <p:spPr>
          <a:xfrm>
            <a:off x="566928" y="365760"/>
            <a:ext cx="7772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0" cap="none" spc="250" normalizeH="0" baseline="0" noProof="0" dirty="0">
                <a:ln>
                  <a:noFill/>
                </a:ln>
                <a:solidFill>
                  <a:srgbClr val="1B7EA6"/>
                </a:solidFill>
                <a:effectLst/>
                <a:uLnTx/>
                <a:uFillTx/>
                <a:latin typeface="Calibri" pitchFamily="34" charset="0"/>
                <a:ea typeface="Calibri" pitchFamily="34" charset="-122"/>
                <a:cs typeface="Calibri" pitchFamily="34" charset="-120"/>
              </a:rPr>
              <a:t>THE ASK</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p:cNvSpPr/>
          <p:nvPr/>
        </p:nvSpPr>
        <p:spPr>
          <a:xfrm>
            <a:off x="566928" y="640080"/>
            <a:ext cx="10058400" cy="868680"/>
          </a:xfrm>
          <a:prstGeom prst="rect">
            <a:avLst/>
          </a:prstGeom>
          <a:noFill/>
          <a:ln/>
        </p:spPr>
        <p:txBody>
          <a:bodyPr wrap="square" lIns="0" tIns="0" rIns="0" bIns="0"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We are raising £1,000,000</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566928" y="6492240"/>
            <a:ext cx="91440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AIO Fusion Ltd   ·   Pre-Seed Investment Round   ·   June 2026   ·   Confidential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11185855" y="6492240"/>
            <a:ext cx="45720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12</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566928" y="1298448"/>
            <a:ext cx="73152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1B7EA6"/>
                </a:solidFill>
                <a:effectLst/>
                <a:uLnTx/>
                <a:uFillTx/>
                <a:latin typeface="Calibri" pitchFamily="34" charset="0"/>
                <a:ea typeface="Calibri" pitchFamily="34" charset="-122"/>
                <a:cs typeface="Calibri" pitchFamily="34" charset="-120"/>
              </a:rPr>
              <a:t>Pre-seed   ·   SEIS / EIS eligible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p:nvPr/>
        </p:nvSpPr>
        <p:spPr>
          <a:xfrm>
            <a:off x="566928" y="1828800"/>
            <a:ext cx="2331720" cy="1417320"/>
          </a:xfrm>
          <a:prstGeom prst="roundRect">
            <a:avLst>
              <a:gd name="adj" fmla="val 3871"/>
            </a:avLst>
          </a:prstGeom>
          <a:solidFill>
            <a:srgbClr val="1B7EA6"/>
          </a:solidFill>
          <a:ln w="12700">
            <a:solidFill>
              <a:srgbClr val="1B7EA6"/>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786384" y="2029968"/>
            <a:ext cx="19659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DCEEF4"/>
                </a:solidFill>
                <a:effectLst/>
                <a:uLnTx/>
                <a:uFillTx/>
                <a:latin typeface="Calibri" pitchFamily="34" charset="0"/>
                <a:ea typeface="Calibri" pitchFamily="34" charset="-122"/>
                <a:cs typeface="Calibri" pitchFamily="34" charset="-120"/>
              </a:rPr>
              <a:t>SEIS TRANCHE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768096" y="2286000"/>
            <a:ext cx="19659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£250,000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p:cNvSpPr/>
          <p:nvPr/>
        </p:nvSpPr>
        <p:spPr>
          <a:xfrm>
            <a:off x="786384" y="2816352"/>
            <a:ext cx="1947672"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EAF3F7"/>
                </a:solidFill>
                <a:effectLst/>
                <a:uLnTx/>
                <a:uFillTx/>
                <a:latin typeface="Calibri" pitchFamily="34" charset="0"/>
                <a:ea typeface="Calibri" pitchFamily="34" charset="-122"/>
                <a:cs typeface="Calibri" pitchFamily="34" charset="-120"/>
              </a:rPr>
              <a:t>50% income tax relief · max £250k</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3127248" y="1828800"/>
            <a:ext cx="2331720" cy="1417320"/>
          </a:xfrm>
          <a:prstGeom prst="roundRect">
            <a:avLst>
              <a:gd name="adj" fmla="val 3871"/>
            </a:avLst>
          </a:prstGeom>
          <a:solidFill>
            <a:srgbClr val="FFFFFF"/>
          </a:solidFill>
          <a:ln w="12700">
            <a:solidFill>
              <a:srgbClr val="D7E2E9"/>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3346704" y="2029968"/>
            <a:ext cx="19659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1B7EA6"/>
                </a:solidFill>
                <a:effectLst/>
                <a:uLnTx/>
                <a:uFillTx/>
                <a:latin typeface="Calibri" pitchFamily="34" charset="0"/>
                <a:ea typeface="Calibri" pitchFamily="34" charset="-122"/>
                <a:cs typeface="Calibri" pitchFamily="34" charset="-120"/>
              </a:rPr>
              <a:t>EIS TRANCHE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3328416" y="2286000"/>
            <a:ext cx="19659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£750,000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3346704" y="2816352"/>
            <a:ext cx="1947672"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8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30% income tax relief</a:t>
            </a:r>
            <a:endParaRPr kumimoji="0" lang="en-US" sz="9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3"/>
          <p:cNvSpPr/>
          <p:nvPr/>
        </p:nvSpPr>
        <p:spPr>
          <a:xfrm>
            <a:off x="566928" y="3401568"/>
            <a:ext cx="4892040" cy="1188720"/>
          </a:xfrm>
          <a:prstGeom prst="roundRect">
            <a:avLst>
              <a:gd name="adj" fmla="val 4615"/>
            </a:avLst>
          </a:prstGeom>
          <a:solidFill>
            <a:srgbClr val="0E2841"/>
          </a:solidFill>
          <a:ln w="12700">
            <a:solidFill>
              <a:srgbClr val="0E2841"/>
            </a:solidFill>
            <a:prstDash val="solid"/>
          </a:ln>
          <a:effectLst>
            <a:outerShdw blurRad="76200" dist="25400" dir="5400000" algn="bl" rotWithShape="0">
              <a:srgbClr val="0E2841">
                <a:alpha val="7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822960" y="3401568"/>
            <a:ext cx="4434840" cy="1188720"/>
          </a:xfrm>
          <a:prstGeom prst="rect">
            <a:avLst/>
          </a:prstGeom>
          <a:noFill/>
          <a:ln/>
        </p:spPr>
        <p:txBody>
          <a:bodyPr wrap="square" lIns="0" tIns="0" rIns="0" bIns="0" rtlCol="0" anchor="ct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FB6C6"/>
                </a:solidFill>
                <a:effectLst/>
                <a:uLnTx/>
                <a:uFillTx/>
                <a:latin typeface="Calibri" pitchFamily="34" charset="0"/>
                <a:ea typeface="Calibri" pitchFamily="34" charset="-122"/>
                <a:cs typeface="Calibri" pitchFamily="34" charset="-120"/>
              </a:rPr>
              <a:t>Pre-money valuation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£2,500,000</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FB6C6"/>
                </a:solidFill>
                <a:effectLst/>
                <a:uLnTx/>
                <a:uFillTx/>
                <a:latin typeface="Calibri" pitchFamily="34" charset="0"/>
                <a:ea typeface="Calibri" pitchFamily="34" charset="-122"/>
                <a:cs typeface="Calibri" pitchFamily="34" charset="-120"/>
              </a:rPr>
              <a:t>Post-money   </a:t>
            </a: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£3,500,000</a:t>
            </a:r>
            <a:r>
              <a:rPr kumimoji="0" lang="en-US" sz="1300" b="0" i="0" u="none" strike="noStrike" kern="1200" cap="none" spc="0" normalizeH="0" baseline="0" noProof="0" dirty="0">
                <a:ln>
                  <a:noFill/>
                </a:ln>
                <a:solidFill>
                  <a:srgbClr val="9FB6C6"/>
                </a:solidFill>
                <a:effectLst/>
                <a:uLnTx/>
                <a:uFillTx/>
                <a:latin typeface="Calibri" pitchFamily="34" charset="0"/>
                <a:ea typeface="Calibri" pitchFamily="34" charset="-122"/>
                <a:cs typeface="Calibri" pitchFamily="34" charset="-120"/>
              </a:rPr>
              <a:t>    ·    ~29% to investors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FB6C6"/>
                </a:solidFill>
                <a:effectLst/>
                <a:uLnTx/>
                <a:uFillTx/>
                <a:latin typeface="Calibri" pitchFamily="34" charset="0"/>
                <a:ea typeface="Calibri" pitchFamily="34" charset="-122"/>
                <a:cs typeface="Calibri" pitchFamily="34" charset="-120"/>
              </a:rPr>
              <a:t>Target first close (SEIS)   </a:t>
            </a:r>
            <a:r>
              <a:rPr kumimoji="0" lang="en-US" sz="1300" b="1" i="0" u="none" strike="noStrike" kern="1200" cap="none" spc="0" normalizeH="0" baseline="0" noProof="0" dirty="0">
                <a:ln>
                  <a:noFill/>
                </a:ln>
                <a:solidFill>
                  <a:srgbClr val="5C9A6E"/>
                </a:solidFill>
                <a:effectLst/>
                <a:uLnTx/>
                <a:uFillTx/>
                <a:latin typeface="Calibri" pitchFamily="34" charset="0"/>
                <a:ea typeface="Calibri" pitchFamily="34" charset="-122"/>
                <a:cs typeface="Calibri" pitchFamily="34" charset="-120"/>
              </a:rPr>
              <a:t>September 2026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566928" y="4681728"/>
            <a:ext cx="48920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HMRC Advance Assurance in progress · Carpenter Box (SEIS/EIS specialists)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5824728" y="1810512"/>
            <a:ext cx="5800039"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12536E"/>
                </a:solidFill>
                <a:effectLst/>
                <a:uLnTx/>
                <a:uFillTx/>
                <a:latin typeface="Calibri" pitchFamily="34" charset="0"/>
                <a:ea typeface="Calibri" pitchFamily="34" charset="-122"/>
                <a:cs typeface="Calibri" pitchFamily="34" charset="-120"/>
              </a:rPr>
              <a:t>USE OF FUNDS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5824728" y="2139696"/>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Founding team salaries (18 mths)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8"/>
          <p:cNvSpPr/>
          <p:nvPr/>
        </p:nvSpPr>
        <p:spPr>
          <a:xfrm>
            <a:off x="9162288" y="2237994"/>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9"/>
          <p:cNvSpPr/>
          <p:nvPr/>
        </p:nvSpPr>
        <p:spPr>
          <a:xfrm>
            <a:off x="9162288" y="2237994"/>
            <a:ext cx="1687845" cy="155448"/>
          </a:xfrm>
          <a:prstGeom prst="rect">
            <a:avLst/>
          </a:prstGeom>
          <a:solidFill>
            <a:srgbClr val="1B7E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10984687" y="2139696"/>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£111k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11%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5824728" y="2491740"/>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Commercial Director (15 mths, Sept '26)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2"/>
          <p:cNvSpPr/>
          <p:nvPr/>
        </p:nvSpPr>
        <p:spPr>
          <a:xfrm>
            <a:off x="9162288" y="2590038"/>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3"/>
          <p:cNvSpPr/>
          <p:nvPr/>
        </p:nvSpPr>
        <p:spPr>
          <a:xfrm>
            <a:off x="9162288" y="2590038"/>
            <a:ext cx="1776679" cy="155448"/>
          </a:xfrm>
          <a:prstGeom prst="rect">
            <a:avLst/>
          </a:prstGeom>
          <a:solidFill>
            <a:srgbClr val="1B7E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10984687" y="2491740"/>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£113k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11%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5824728" y="2843784"/>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Agency SM + In-house SM (14 mths)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6"/>
          <p:cNvSpPr/>
          <p:nvPr/>
        </p:nvSpPr>
        <p:spPr>
          <a:xfrm>
            <a:off x="9162288" y="2942082"/>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7"/>
          <p:cNvSpPr/>
          <p:nvPr/>
        </p:nvSpPr>
        <p:spPr>
          <a:xfrm>
            <a:off x="9162288" y="2942082"/>
            <a:ext cx="1687845" cy="155448"/>
          </a:xfrm>
          <a:prstGeom prst="rect">
            <a:avLst/>
          </a:prstGeom>
          <a:solidFill>
            <a:srgbClr val="1B7E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10984687" y="2843784"/>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£112k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11%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9"/>
          <p:cNvSpPr/>
          <p:nvPr/>
        </p:nvSpPr>
        <p:spPr>
          <a:xfrm>
            <a:off x="5824728" y="3195828"/>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Developer, AI/SaaS (15 mths, Oct '26)</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0"/>
          <p:cNvSpPr/>
          <p:nvPr/>
        </p:nvSpPr>
        <p:spPr>
          <a:xfrm>
            <a:off x="9162288" y="3294126"/>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1"/>
          <p:cNvSpPr/>
          <p:nvPr/>
        </p:nvSpPr>
        <p:spPr>
          <a:xfrm>
            <a:off x="9162288" y="3294126"/>
            <a:ext cx="1421343" cy="155448"/>
          </a:xfrm>
          <a:prstGeom prst="rect">
            <a:avLst/>
          </a:prstGeom>
          <a:solidFill>
            <a:srgbClr val="1B7E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2"/>
          <p:cNvSpPr/>
          <p:nvPr/>
        </p:nvSpPr>
        <p:spPr>
          <a:xfrm>
            <a:off x="10984687" y="3195828"/>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£94k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3"/>
          <p:cNvSpPr/>
          <p:nvPr/>
        </p:nvSpPr>
        <p:spPr>
          <a:xfrm>
            <a:off x="5824728" y="3547872"/>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IT, ops &amp; fractional CFO</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4"/>
          <p:cNvSpPr/>
          <p:nvPr/>
        </p:nvSpPr>
        <p:spPr>
          <a:xfrm>
            <a:off x="9162288" y="3646170"/>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5"/>
          <p:cNvSpPr/>
          <p:nvPr/>
        </p:nvSpPr>
        <p:spPr>
          <a:xfrm>
            <a:off x="9162288" y="3646170"/>
            <a:ext cx="710672" cy="155448"/>
          </a:xfrm>
          <a:prstGeom prst="rect">
            <a:avLst/>
          </a:prstGeom>
          <a:solidFill>
            <a:srgbClr val="7FB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6"/>
          <p:cNvSpPr/>
          <p:nvPr/>
        </p:nvSpPr>
        <p:spPr>
          <a:xfrm>
            <a:off x="10984687" y="3547872"/>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£50k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7"/>
          <p:cNvSpPr/>
          <p:nvPr/>
        </p:nvSpPr>
        <p:spPr>
          <a:xfrm>
            <a:off x="5824728" y="3899916"/>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S. Gallagher — advisory (18 mths)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8"/>
          <p:cNvSpPr/>
          <p:nvPr/>
        </p:nvSpPr>
        <p:spPr>
          <a:xfrm>
            <a:off x="9162288" y="3998214"/>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39"/>
          <p:cNvSpPr/>
          <p:nvPr/>
        </p:nvSpPr>
        <p:spPr>
          <a:xfrm>
            <a:off x="9162288" y="3998214"/>
            <a:ext cx="533004" cy="155448"/>
          </a:xfrm>
          <a:prstGeom prst="rect">
            <a:avLst/>
          </a:prstGeom>
          <a:solidFill>
            <a:srgbClr val="7FB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0"/>
          <p:cNvSpPr/>
          <p:nvPr/>
        </p:nvSpPr>
        <p:spPr>
          <a:xfrm>
            <a:off x="10984687" y="3899916"/>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£61k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1"/>
          <p:cNvSpPr/>
          <p:nvPr/>
        </p:nvSpPr>
        <p:spPr>
          <a:xfrm>
            <a:off x="5824728" y="4251960"/>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Marketing programme (Nov '26–Apr '27)</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2"/>
          <p:cNvSpPr/>
          <p:nvPr/>
        </p:nvSpPr>
        <p:spPr>
          <a:xfrm>
            <a:off x="9162288" y="4350258"/>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3"/>
          <p:cNvSpPr/>
          <p:nvPr/>
        </p:nvSpPr>
        <p:spPr>
          <a:xfrm>
            <a:off x="9162288" y="4350258"/>
            <a:ext cx="444170" cy="155448"/>
          </a:xfrm>
          <a:prstGeom prst="rect">
            <a:avLst/>
          </a:prstGeom>
          <a:solidFill>
            <a:srgbClr val="7FB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4"/>
          <p:cNvSpPr/>
          <p:nvPr/>
        </p:nvSpPr>
        <p:spPr>
          <a:xfrm>
            <a:off x="10984687" y="4251960"/>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£96k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5"/>
          <p:cNvSpPr/>
          <p:nvPr/>
        </p:nvSpPr>
        <p:spPr>
          <a:xfrm>
            <a:off x="5824728" y="4604004"/>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Platform infrastructure + LLM APIs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6"/>
          <p:cNvSpPr/>
          <p:nvPr/>
        </p:nvSpPr>
        <p:spPr>
          <a:xfrm>
            <a:off x="9162288" y="4702302"/>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47"/>
          <p:cNvSpPr/>
          <p:nvPr/>
        </p:nvSpPr>
        <p:spPr>
          <a:xfrm>
            <a:off x="9162288" y="4702302"/>
            <a:ext cx="355336" cy="155448"/>
          </a:xfrm>
          <a:prstGeom prst="rect">
            <a:avLst/>
          </a:prstGeom>
          <a:solidFill>
            <a:srgbClr val="7FB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48"/>
          <p:cNvSpPr/>
          <p:nvPr/>
        </p:nvSpPr>
        <p:spPr>
          <a:xfrm>
            <a:off x="10984687" y="4604004"/>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£69k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49"/>
          <p:cNvSpPr/>
          <p:nvPr/>
        </p:nvSpPr>
        <p:spPr>
          <a:xfrm>
            <a:off x="5824728" y="4956048"/>
            <a:ext cx="3291840" cy="3520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Working capital + contingency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0"/>
          <p:cNvSpPr/>
          <p:nvPr/>
        </p:nvSpPr>
        <p:spPr>
          <a:xfrm>
            <a:off x="9162288" y="5054346"/>
            <a:ext cx="1776679" cy="155448"/>
          </a:xfrm>
          <a:prstGeom prst="rect">
            <a:avLst/>
          </a:prstGeom>
          <a:solidFill>
            <a:srgbClr val="EDF3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51"/>
          <p:cNvSpPr/>
          <p:nvPr/>
        </p:nvSpPr>
        <p:spPr>
          <a:xfrm>
            <a:off x="9162288" y="5054346"/>
            <a:ext cx="177668" cy="155448"/>
          </a:xfrm>
          <a:prstGeom prst="rect">
            <a:avLst/>
          </a:prstGeom>
          <a:solidFill>
            <a:srgbClr val="7FB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2"/>
          <p:cNvSpPr/>
          <p:nvPr/>
        </p:nvSpPr>
        <p:spPr>
          <a:xfrm>
            <a:off x="10984687" y="4956048"/>
            <a:ext cx="685800" cy="35204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0E2841"/>
                </a:solidFill>
                <a:effectLst/>
                <a:uLnTx/>
                <a:uFillTx/>
                <a:latin typeface="Calibri" pitchFamily="34" charset="0"/>
                <a:ea typeface="Calibri" pitchFamily="34" charset="-122"/>
                <a:cs typeface="Calibri" pitchFamily="34" charset="-120"/>
              </a:rPr>
              <a:t>£294k  </a:t>
            </a:r>
            <a:r>
              <a:rPr kumimoji="0" lang="en-US" sz="950" b="0" i="0" u="none" strike="noStrike" kern="1200" cap="none" spc="0" normalizeH="0" baseline="0" noProof="0" dirty="0">
                <a:ln>
                  <a:noFill/>
                </a:ln>
                <a:solidFill>
                  <a:srgbClr val="5E7180"/>
                </a:solidFill>
                <a:effectLst/>
                <a:uLnTx/>
                <a:uFillTx/>
                <a:latin typeface="Calibri" pitchFamily="34" charset="0"/>
                <a:ea typeface="Calibri" pitchFamily="34" charset="-122"/>
                <a:cs typeface="Calibri" pitchFamily="34" charset="-120"/>
              </a:rPr>
              <a:t>29%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3"/>
          <p:cNvSpPr/>
          <p:nvPr/>
        </p:nvSpPr>
        <p:spPr>
          <a:xfrm>
            <a:off x="566928" y="5742432"/>
            <a:ext cx="11057839" cy="502920"/>
          </a:xfrm>
          <a:prstGeom prst="roundRect">
            <a:avLst>
              <a:gd name="adj" fmla="val 10909"/>
            </a:avLst>
          </a:prstGeom>
          <a:solidFill>
            <a:srgbClr val="1B7EA6"/>
          </a:solidFill>
          <a:ln w="12700">
            <a:solidFill>
              <a:srgbClr val="1B7EA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4"/>
          <p:cNvSpPr/>
          <p:nvPr/>
        </p:nvSpPr>
        <p:spPr>
          <a:xfrm>
            <a:off x="841248" y="5742432"/>
            <a:ext cx="10509199"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Milestones funded:  </a:t>
            </a:r>
            <a:r>
              <a:rPr kumimoji="0" lang="en-US" sz="1100" b="0" i="0" u="none" strike="noStrike" kern="1200" cap="none" spc="0" normalizeH="0" baseline="0" noProof="0" dirty="0">
                <a:ln>
                  <a:noFill/>
                </a:ln>
                <a:solidFill>
                  <a:srgbClr val="EAF3F7"/>
                </a:solidFill>
                <a:effectLst/>
                <a:uLnTx/>
                <a:uFillTx/>
                <a:latin typeface="Calibri" pitchFamily="34" charset="0"/>
                <a:ea typeface="Calibri" pitchFamily="34" charset="-122"/>
                <a:cs typeface="Calibri" pitchFamily="34" charset="-120"/>
              </a:rPr>
              <a:t>V1 launch Nov 2026  ·  3-person sales team  ·  100–150 clients by Year 1  ·  US soft launch Q3 2027  ·  seed trigger at £200k+ ARR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sessions/gallant-ecstatic-ramanujan/mnt/outputs/build/assets/swoosh_bg.png"/>
          <p:cNvPicPr>
            <a:picLocks noChangeAspect="1"/>
          </p:cNvPicPr>
          <p:nvPr/>
        </p:nvPicPr>
        <p:blipFill>
          <a:blip r:embed="rId3"/>
          <a:stretch>
            <a:fillRect/>
          </a:stretch>
        </p:blipFill>
        <p:spPr>
          <a:xfrm>
            <a:off x="0" y="0"/>
            <a:ext cx="12191695" cy="6858000"/>
          </a:xfrm>
          <a:prstGeom prst="rect">
            <a:avLst/>
          </a:prstGeom>
        </p:spPr>
      </p:pic>
      <p:sp>
        <p:nvSpPr>
          <p:cNvPr id="7" name="Text 3"/>
          <p:cNvSpPr/>
          <p:nvPr/>
        </p:nvSpPr>
        <p:spPr>
          <a:xfrm>
            <a:off x="0" y="5669280"/>
            <a:ext cx="12191695" cy="310896"/>
          </a:xfrm>
          <a:prstGeom prst="rect">
            <a:avLst/>
          </a:prstGeom>
          <a:noFill/>
          <a:ln/>
        </p:spPr>
        <p:txBody>
          <a:bodyPr wrap="square" lIns="0" tIns="0" rIns="0" bIns="0" rtlCol="0" anchor="ctr"/>
          <a:lstStyle/>
          <a:p>
            <a:pPr marL="0" indent="0" algn="ctr">
              <a:buNone/>
            </a:pPr>
            <a:r>
              <a:rPr lang="en-US" sz="1300" b="1" dirty="0">
                <a:solidFill>
                  <a:srgbClr val="0E2841"/>
                </a:solidFill>
                <a:latin typeface="Calibri" pitchFamily="34" charset="0"/>
                <a:ea typeface="Calibri" pitchFamily="34" charset="-122"/>
                <a:cs typeface="Calibri" pitchFamily="34" charset="-120"/>
              </a:rPr>
              <a:t>Patrick Barrett &amp; Natalie Linder</a:t>
            </a:r>
            <a:r>
              <a:rPr lang="en-US" sz="1300" dirty="0">
                <a:solidFill>
                  <a:srgbClr val="1B7EA6"/>
                </a:solidFill>
                <a:latin typeface="Calibri" pitchFamily="34" charset="0"/>
                <a:ea typeface="Calibri" pitchFamily="34" charset="-122"/>
                <a:cs typeface="Calibri" pitchFamily="34" charset="-120"/>
              </a:rPr>
              <a:t>    ·    patrick@aiofusion.ai</a:t>
            </a:r>
            <a:endParaRPr lang="en-US" sz="1300" dirty="0"/>
          </a:p>
        </p:txBody>
      </p:sp>
      <p:sp>
        <p:nvSpPr>
          <p:cNvPr id="8" name="Text 4"/>
          <p:cNvSpPr/>
          <p:nvPr/>
        </p:nvSpPr>
        <p:spPr>
          <a:xfrm>
            <a:off x="0" y="6446520"/>
            <a:ext cx="12191695" cy="274320"/>
          </a:xfrm>
          <a:prstGeom prst="rect">
            <a:avLst/>
          </a:prstGeom>
          <a:noFill/>
          <a:ln/>
        </p:spPr>
        <p:txBody>
          <a:bodyPr wrap="square" lIns="0" tIns="0" rIns="0" bIns="0" rtlCol="0" anchor="ctr"/>
          <a:lstStyle/>
          <a:p>
            <a:pPr marL="0" indent="0" algn="ctr">
              <a:buNone/>
            </a:pPr>
            <a:r>
              <a:rPr lang="en-US" sz="900" kern="0" spc="100" dirty="0">
                <a:solidFill>
                  <a:srgbClr val="5E7180"/>
                </a:solidFill>
                <a:latin typeface="Calibri" pitchFamily="34" charset="0"/>
                <a:ea typeface="Calibri" pitchFamily="34" charset="-122"/>
                <a:cs typeface="Calibri" pitchFamily="34" charset="-120"/>
              </a:rPr>
              <a:t>AIO Fusion Ltd ©   ·   June 2026   ·   Strictly Private &amp; Confidential</a:t>
            </a:r>
            <a:endParaRPr lang="en-US" sz="900" dirty="0"/>
          </a:p>
        </p:txBody>
      </p:sp>
      <p:pic>
        <p:nvPicPr>
          <p:cNvPr id="4" name="Picture 3">
            <a:extLst>
              <a:ext uri="{FF2B5EF4-FFF2-40B4-BE49-F238E27FC236}">
                <a16:creationId xmlns:a16="http://schemas.microsoft.com/office/drawing/2014/main" id="{92511CE2-2661-454A-EB38-C4C0EDCD99D5}"/>
              </a:ext>
            </a:extLst>
          </p:cNvPr>
          <p:cNvPicPr>
            <a:picLocks noChangeAspect="1"/>
          </p:cNvPicPr>
          <p:nvPr/>
        </p:nvPicPr>
        <p:blipFill>
          <a:blip r:embed="rId4"/>
          <a:stretch>
            <a:fillRect/>
          </a:stretch>
        </p:blipFill>
        <p:spPr>
          <a:xfrm>
            <a:off x="1476339" y="1156359"/>
            <a:ext cx="9239016" cy="4333186"/>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3" name="Image 1" descr="/sessions/gallant-ecstatic-ramanujan/mnt/outputs/build/assets/logo_teal.png"/>
          <p:cNvPicPr>
            <a:picLocks noChangeAspect="1"/>
          </p:cNvPicPr>
          <p:nvPr/>
        </p:nvPicPr>
        <p:blipFill>
          <a:blip r:embed="rId5"/>
          <a:stretch>
            <a:fillRect/>
          </a:stretch>
        </p:blipFill>
        <p:spPr>
          <a:xfrm>
            <a:off x="1166193" y="494494"/>
            <a:ext cx="1746495" cy="1289488"/>
          </a:xfrm>
          <a:prstGeom prst="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pic>
      <p:sp>
        <p:nvSpPr>
          <p:cNvPr id="5" name="Text 1">
            <a:extLst>
              <a:ext uri="{FF2B5EF4-FFF2-40B4-BE49-F238E27FC236}">
                <a16:creationId xmlns:a16="http://schemas.microsoft.com/office/drawing/2014/main" id="{D45558B1-DA60-6C39-0FBE-4D50793245D0}"/>
              </a:ext>
            </a:extLst>
          </p:cNvPr>
          <p:cNvSpPr/>
          <p:nvPr/>
        </p:nvSpPr>
        <p:spPr>
          <a:xfrm>
            <a:off x="3076863" y="584859"/>
            <a:ext cx="10058400" cy="868680"/>
          </a:xfrm>
          <a:prstGeom prst="rect">
            <a:avLst/>
          </a:prstGeom>
          <a:noFill/>
          <a:ln/>
        </p:spPr>
        <p:txBody>
          <a:bodyPr wrap="square" lIns="0" tIns="0" rIns="0" bIns="0" rtlCol="0" anchor="t"/>
          <a:lstStyle/>
          <a:p>
            <a:pPr marL="0" indent="0" algn="l">
              <a:lnSpc>
                <a:spcPct val="98000"/>
              </a:lnSpc>
              <a:buNone/>
            </a:pPr>
            <a:r>
              <a:rPr lang="en-US" sz="2700" b="1" dirty="0">
                <a:solidFill>
                  <a:srgbClr val="0E2841"/>
                </a:solidFill>
                <a:latin typeface="Calibri" pitchFamily="34" charset="0"/>
                <a:ea typeface="Calibri" pitchFamily="34" charset="-122"/>
                <a:cs typeface="Calibri" pitchFamily="34" charset="-120"/>
              </a:rPr>
              <a:t>We’re ready to go now…</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432</TotalTime>
  <Words>2512</Words>
  <Application>Microsoft Office PowerPoint</Application>
  <PresentationFormat>Widescreen</PresentationFormat>
  <Paragraphs>363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AIO Fusion — Pre-Seed Investment Round</dc:title>
  <dc:subject>PptxGenJS Presentation</dc:subject>
  <dc:creator>AIO Fusion Ltd</dc:creator>
  <cp:lastModifiedBy>Patrick Barrett</cp:lastModifiedBy>
  <cp:revision>56</cp:revision>
  <dcterms:created xsi:type="dcterms:W3CDTF">2026-06-17T10:59:42Z</dcterms:created>
  <dcterms:modified xsi:type="dcterms:W3CDTF">2026-06-26T06:03:06Z</dcterms:modified>
</cp:coreProperties>
</file>