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C_780BBC20.xml" ContentType="application/vnd.ms-powerpoint.comments+xml"/>
  <Override PartName="/ppt/comments/modernComment_104_DC2BE027.xml" ContentType="application/vnd.ms-powerpoint.comments+xml"/>
  <Override PartName="/ppt/comments/modernComment_10A_BE19D90B.xml" ContentType="application/vnd.ms-powerpoint.comments+xml"/>
  <Override PartName="/ppt/comments/modernComment_105_135B8A01.xml" ContentType="application/vnd.ms-powerpoint.comments+xml"/>
  <Override PartName="/ppt/comments/modernComment_10E_5DD55FD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8" r:id="rId4"/>
    <p:sldId id="258" r:id="rId5"/>
    <p:sldId id="260" r:id="rId6"/>
    <p:sldId id="266" r:id="rId7"/>
    <p:sldId id="267" r:id="rId8"/>
    <p:sldId id="265" r:id="rId9"/>
    <p:sldId id="261" r:id="rId10"/>
    <p:sldId id="263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54CB5B-57A3-ED06-982B-049D770F48D7}" name="Patrick Barrett" initials="PB" userId="S::patrick.barrett@simpaticopr.co.uk::ee39d97c-6722-41f8-80d7-1f6d0b4dc0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CC99FF"/>
    <a:srgbClr val="E36745"/>
    <a:srgbClr val="FB3D1D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A_BE19D9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CC3206-1297-4739-8F06-1719EDD47089}" authorId="{7754CB5B-57A3-ED06-982B-049D770F48D7}" created="2026-03-13T17:17:45.087">
    <pc:sldMkLst xmlns:pc="http://schemas.microsoft.com/office/powerpoint/2013/main/command">
      <pc:docMk/>
      <pc:sldMk cId="3189365003" sldId="266"/>
    </pc:sldMkLst>
    <p188:txBody>
      <a:bodyPr/>
      <a:lstStyle/>
      <a:p>
        <a:r>
          <a:rPr lang="en-GB"/>
          <a:t>Again - remove anything that’s not practical and needs external technical AIO</a:t>
        </a:r>
      </a:p>
    </p188:txBody>
  </p188:cm>
</p188:cmLst>
</file>

<file path=ppt/comments/modernComment_10C_780BBC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676BF7-C13B-4FC1-AFF2-CB9445C8946C}" authorId="{7754CB5B-57A3-ED06-982B-049D770F48D7}" created="2026-03-13T16:55:19.931">
    <pc:sldMkLst xmlns:pc="http://schemas.microsoft.com/office/powerpoint/2013/main/command">
      <pc:docMk/>
      <pc:sldMk cId="2014034976" sldId="268"/>
    </pc:sldMkLst>
    <p188:txBody>
      <a:bodyPr/>
      <a:lstStyle/>
      <a:p>
        <a:r>
          <a:rPr lang="en-GB"/>
          <a:t>Question - how is authority actually scored on earned and owned - including all LLMs? What’s the criteria.</a:t>
        </a:r>
      </a:p>
    </p188:txBody>
  </p188:cm>
  <p188:cm id="{E62A65B7-5CF1-42A2-8801-47D6BCED5165}" authorId="{7754CB5B-57A3-ED06-982B-049D770F48D7}" created="2026-03-13T16:55:42.231">
    <pc:sldMkLst xmlns:pc="http://schemas.microsoft.com/office/powerpoint/2013/main/command">
      <pc:docMk/>
      <pc:sldMk cId="2014034976" sldId="268"/>
    </pc:sldMkLst>
    <p188:txBody>
      <a:bodyPr/>
      <a:lstStyle/>
      <a:p>
        <a:r>
          <a:rPr lang="en-GB"/>
          <a:t>Should present methdology</a:t>
        </a:r>
      </a:p>
    </p188:txBody>
  </p188:cm>
</p188:cmLst>
</file>

<file path=ppt/comments/modernComment_10E_5DD55F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F6EBBB-2044-4202-A6FD-042C97A3A423}" authorId="{7754CB5B-57A3-ED06-982B-049D770F48D7}" created="2026-03-13T17:11:50.232">
    <pc:sldMkLst xmlns:pc="http://schemas.microsoft.com/office/powerpoint/2013/main/command">
      <pc:docMk/>
      <pc:sldMk cId="1574264799" sldId="270"/>
    </pc:sldMkLst>
    <p188:txBody>
      <a:bodyPr/>
      <a:lstStyle/>
      <a:p>
        <a:r>
          <a:rPr lang="en-GB"/>
          <a:t>Google docs or other cloud api?</a:t>
        </a:r>
      </a:p>
    </p188:txBody>
  </p188:cm>
</p188:cmLst>
</file>

<file path=ppt/comments/modernComment_104_DC2BE0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D135B5-5136-4BFE-B426-0BE457CB02D1}" authorId="{7754CB5B-57A3-ED06-982B-049D770F48D7}" created="2026-03-13T16:41:17.595">
    <pc:sldMkLst xmlns:pc="http://schemas.microsoft.com/office/powerpoint/2013/main/command">
      <pc:docMk/>
      <pc:sldMk cId="3693862951" sldId="260"/>
    </pc:sldMkLst>
    <p188:txBody>
      <a:bodyPr/>
      <a:lstStyle/>
      <a:p>
        <a:r>
          <a:rPr lang="en-GB"/>
          <a:t>Question - which elements are practical to include in this section?</a:t>
        </a:r>
      </a:p>
    </p188:txBody>
  </p188:cm>
</p188:cmLst>
</file>

<file path=ppt/comments/modernComment_105_135B8A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7357E0-53EB-486F-A1F1-5FC9266A4953}" authorId="{7754CB5B-57A3-ED06-982B-049D770F48D7}" created="2026-03-13T16:37:35.3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766209" sldId="261"/>
      <ac:spMk id="22" creationId="{2D51CB0E-8ECF-A659-96E8-FAAAC5CEA099}"/>
    </ac:deMkLst>
    <p188:txBody>
      <a:bodyPr/>
      <a:lstStyle/>
      <a:p>
        <a:r>
          <a:rPr lang="en-GB"/>
          <a:t>Media relations agent - if it was developed.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2F925-E1C7-47E8-93EF-D4D3F196E1C7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38534-28F1-4C99-8877-7C2AEA5CDC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110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661B-4028-6D47-FF2F-6AFCA7AC7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3DFFA-ABC4-4E66-E2E7-7EE99236D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1017-C8E1-BE06-19EA-4042F6A0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1E1D-9463-4046-86BE-CCB7FEDB9D4F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B0D7-4FF4-DF2A-A06C-9BF63DEB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1B01-0A56-D203-81CD-E8915A86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25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CCA3-0077-5B31-D9D3-4D1CF79B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C88F-A895-E715-4BB1-912649C8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E71A-B3E6-CFE5-9271-B1159688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C99C0-1955-4936-B24D-6166CC6552D0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CB26-E625-37F3-7B46-282CEC81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B44D9-0319-361A-358F-443422CC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27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67AC-1F34-9AD4-D07E-68985D2F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5D126-7746-F2C0-C7C5-0318FFFAB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0F60-EAD8-06DA-4599-D1DD21DB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07D1B-DD3C-4629-9847-72FD88746D73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F6BC5-CAB3-3B00-6363-3798E139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4A1F-48ED-928E-07D7-90CED1D5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9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F32D-C611-2EA8-9D3D-21A62710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BBD16-9D8A-5F93-3154-55B5FEB55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4614C-88F4-EB32-AE1C-AF1099F84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0C3ED-116C-50A1-CC31-7D22A4E5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A519E-34A2-4C55-9935-3D07FD54EC77}" type="datetime1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CAE96-41F7-7FE0-116A-E370F924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9D20D-F7E9-8DBC-4013-3A6E4780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60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C813-D4E1-D64B-61DF-479780A3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5E7A0-0EA7-9558-8A47-43D2C7925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09D3-7C39-8033-23ED-139C50693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B8A04-2E14-A8BD-280B-E31B6142B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93619-388C-6D52-25E3-90331AD85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5CD37-42EF-0DE3-D270-0B6AC6FA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D666D-36B1-4EDE-BA0B-0A591DCBE966}" type="datetime1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11362-1F72-FE17-DC1F-7AEDC1B6C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75944-6C4E-26CD-3965-88C85266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68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CB83-3215-B710-DCE6-707F9C4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1937E-8B6A-0F45-6FE0-245B96E0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58C03-AAC5-453C-B44A-C32A85DFFE7A}" type="datetime1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826A6-21E4-CED5-388D-57335084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30337E-A4B8-DCD8-AA46-E2E850BE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49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195E6-D87E-BD86-AB60-CAA13D61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A0CAF-B5DE-48DB-A00D-6994073AFDC3}" type="datetime1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42B06-B306-C86C-7180-7FC41D74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3D40E-BB3F-BF61-FA82-172C7F21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20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6798-4CE2-CBC5-3E77-12E8C14C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0D6D-2311-F4AF-15C7-C9B3857B8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D4F98-23A4-08F7-0872-27534BFD9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EA7A6-63E6-6C30-19B6-23961505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5FCD-AE7C-4B9A-A795-7AF47B8F277F}" type="datetime1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CA7DC-A407-453D-63EF-8EC8BD27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9C695-4BDB-8268-19EA-FC454339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77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93F4-6F93-0A2C-70C6-F9991C34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77959-9DEA-E5BB-7144-22E7CB9FD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8B15A-E2D8-9AE9-DDD8-CD948DCAD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C0D9F-E921-7E6D-6C5A-4765CD73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E5D5A-DC3F-490C-8AB1-F7C7E8DEEB21}" type="datetime1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1FF12-7CC9-B8E3-A4DE-5BCA88DA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26D11-E922-1EA2-5E4C-7E94FA44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53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D755-E9DB-D510-D441-1F80A00A0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05937-B23F-69AC-98BB-CE6339EC0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EA774-BE1B-0B8D-3DFE-2B22173B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F5F57-F8E5-4FE2-ACB3-5842C1C75B40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F8381-9354-F1EE-4561-1A5B2694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093D-7D9A-E996-B4D6-3C99C395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55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E82A8F-6307-C8B6-9F84-BD1ADE200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3C300-4A09-7F4E-2CFE-79998D633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DFEA2-363A-CB78-2B9F-0A84567A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BAF1F-300E-4F90-B3F5-48541CCCE6D5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E601-FA2D-5979-A321-8E10C3A5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1A61-B94E-669A-1D40-CA2ECCEB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2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45FB2-BE9F-D95C-6FA0-6D955CF2B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C7D77-9880-1897-0D66-7AC6E590A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2DB27-DB84-45A5-BE50-0A61856C0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1841E-E665-4AED-B91A-492A6CFC8D96}" type="datetime1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24AF6-D5CA-24F0-E108-49C21B625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A6A4-49BB-B108-50EC-FBD0A3AA9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CEBBE-4EF8-4724-88E3-DBA8D8CAC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368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C_780BBC20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4_DC2BE027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A_BE19D90B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135B8A0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E_5DD55FDF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1286-E693-A153-426B-ACB5C953BE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AIO Fusion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53D24-084D-F5AB-E7C3-7E14DCD05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Platform schematic V2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D946F-1941-5FDB-F0B6-B39CC619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1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0DD0FA-D964-448C-AC7C-232E2539EDE6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</p:spTree>
    <p:extLst>
      <p:ext uri="{BB962C8B-B14F-4D97-AF65-F5344CB8AC3E}">
        <p14:creationId xmlns:p14="http://schemas.microsoft.com/office/powerpoint/2010/main" val="298629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499" y="853984"/>
            <a:ext cx="9607826" cy="58163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AIO Fusion Structure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D43AA-501A-09C8-F02C-71D926A047D5}"/>
              </a:ext>
            </a:extLst>
          </p:cNvPr>
          <p:cNvSpPr/>
          <p:nvPr/>
        </p:nvSpPr>
        <p:spPr>
          <a:xfrm>
            <a:off x="1123499" y="5373117"/>
            <a:ext cx="4635335" cy="4248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Earned content management and optimization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6C7E1-4A5A-9620-D9A2-7F313C20546A}"/>
              </a:ext>
            </a:extLst>
          </p:cNvPr>
          <p:cNvSpPr/>
          <p:nvPr/>
        </p:nvSpPr>
        <p:spPr>
          <a:xfrm>
            <a:off x="1123500" y="3352227"/>
            <a:ext cx="4635335" cy="42487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F1729"/>
                </a:solidFill>
                <a:latin typeface="Plus Jakarta Sans"/>
              </a:rPr>
              <a:t>Combined content audit and optimization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070B2-BDB4-716B-1812-CCC8F10F4194}"/>
              </a:ext>
            </a:extLst>
          </p:cNvPr>
          <p:cNvSpPr/>
          <p:nvPr/>
        </p:nvSpPr>
        <p:spPr>
          <a:xfrm>
            <a:off x="1123500" y="3824502"/>
            <a:ext cx="4635335" cy="42487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Technical owned channel optimization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F378B1-E149-BBD9-1E8E-AF894C06137F}"/>
              </a:ext>
            </a:extLst>
          </p:cNvPr>
          <p:cNvSpPr/>
          <p:nvPr/>
        </p:nvSpPr>
        <p:spPr>
          <a:xfrm>
            <a:off x="1123499" y="4673460"/>
            <a:ext cx="4635335" cy="5816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 and AI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Score for marketing authority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FAF234-448B-B15B-9B60-8067BF1FC637}"/>
              </a:ext>
            </a:extLst>
          </p:cNvPr>
          <p:cNvSpPr/>
          <p:nvPr/>
        </p:nvSpPr>
        <p:spPr>
          <a:xfrm>
            <a:off x="6096000" y="2178615"/>
            <a:ext cx="4635335" cy="42487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Content Archive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7B0158-275F-3205-E1DD-147BDBD1211B}"/>
              </a:ext>
            </a:extLst>
          </p:cNvPr>
          <p:cNvSpPr/>
          <p:nvPr/>
        </p:nvSpPr>
        <p:spPr>
          <a:xfrm>
            <a:off x="6095990" y="2754851"/>
            <a:ext cx="4635335" cy="42487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Measure and report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CC41910-2D09-15AC-39BA-49E8D2DE47F8}"/>
              </a:ext>
            </a:extLst>
          </p:cNvPr>
          <p:cNvSpPr/>
          <p:nvPr/>
        </p:nvSpPr>
        <p:spPr>
          <a:xfrm>
            <a:off x="6095990" y="1520570"/>
            <a:ext cx="4635335" cy="4248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Secondary sections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322F0D7-D297-505E-90E7-64CA2428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2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7571C-0F2B-37F3-C7CA-A668FD91E291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C247D6-3B9C-361C-17ED-586982C17F87}"/>
              </a:ext>
            </a:extLst>
          </p:cNvPr>
          <p:cNvSpPr/>
          <p:nvPr/>
        </p:nvSpPr>
        <p:spPr>
          <a:xfrm>
            <a:off x="1123509" y="2440872"/>
            <a:ext cx="4635335" cy="424879"/>
          </a:xfrm>
          <a:prstGeom prst="roundRect">
            <a:avLst/>
          </a:prstGeom>
          <a:solidFill>
            <a:srgbClr val="E36745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Authority and visibility </a:t>
            </a:r>
            <a:r>
              <a:rPr lang="en-US" dirty="0">
                <a:solidFill>
                  <a:srgbClr val="0F1729"/>
                </a:solidFill>
                <a:latin typeface="Plus Jakarta Sans"/>
              </a:rPr>
              <a:t>d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iagnostic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F40476-7B15-C7A3-798F-FD49BC7242DD}"/>
              </a:ext>
            </a:extLst>
          </p:cNvPr>
          <p:cNvSpPr/>
          <p:nvPr/>
        </p:nvSpPr>
        <p:spPr>
          <a:xfrm>
            <a:off x="79604" y="2941817"/>
            <a:ext cx="2087791" cy="3343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Optimization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06104E-809A-35DB-62BF-C03B06D544CF}"/>
              </a:ext>
            </a:extLst>
          </p:cNvPr>
          <p:cNvSpPr/>
          <p:nvPr/>
        </p:nvSpPr>
        <p:spPr>
          <a:xfrm>
            <a:off x="79604" y="4303349"/>
            <a:ext cx="2456767" cy="2950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On-going Authority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641CBB-F059-E148-CBFD-6D8D1F2CEE6A}"/>
              </a:ext>
            </a:extLst>
          </p:cNvPr>
          <p:cNvSpPr/>
          <p:nvPr/>
        </p:nvSpPr>
        <p:spPr>
          <a:xfrm>
            <a:off x="194158" y="1520570"/>
            <a:ext cx="2456767" cy="2950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Front end dash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8DFF8B3-FE16-EC59-BC7F-D75DB1AFCA55}"/>
              </a:ext>
            </a:extLst>
          </p:cNvPr>
          <p:cNvSpPr/>
          <p:nvPr/>
        </p:nvSpPr>
        <p:spPr>
          <a:xfrm>
            <a:off x="194158" y="2006243"/>
            <a:ext cx="2456767" cy="31015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AIO Diagnostic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2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5FFE-7419-EA78-CB69-6D5B6D8C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FF3056-399A-1681-EA9D-2B3970EE1CCF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rgbClr val="E36745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 and Visibility Diagnostic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509C21-E7E4-A1A2-54F0-B5E30982A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D45CE1-C402-3B2A-C187-C72EEA218EA9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rgbClr val="E36745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E8B231-31C0-EEC6-0061-76E901342C46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rgbClr val="E36745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D75D-FCD4-79C8-6B43-1A79DB60833E}"/>
              </a:ext>
            </a:extLst>
          </p:cNvPr>
          <p:cNvSpPr/>
          <p:nvPr/>
        </p:nvSpPr>
        <p:spPr>
          <a:xfrm>
            <a:off x="1123509" y="247321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 Audit in Earned Media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94B01B-FD4D-841E-D091-6E5BF8EADE6B}"/>
              </a:ext>
            </a:extLst>
          </p:cNvPr>
          <p:cNvSpPr/>
          <p:nvPr/>
        </p:nvSpPr>
        <p:spPr>
          <a:xfrm>
            <a:off x="6096000" y="245980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BB4F25-393C-A31D-A7FE-B2A7ADA87C3A}"/>
              </a:ext>
            </a:extLst>
          </p:cNvPr>
          <p:cNvSpPr/>
          <p:nvPr/>
        </p:nvSpPr>
        <p:spPr>
          <a:xfrm>
            <a:off x="1154989" y="457283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Priority Actions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8824B8-53CB-863E-BEC2-8AB7A7CA650B}"/>
              </a:ext>
            </a:extLst>
          </p:cNvPr>
          <p:cNvSpPr/>
          <p:nvPr/>
        </p:nvSpPr>
        <p:spPr>
          <a:xfrm>
            <a:off x="6127480" y="455942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1A2512-9FA9-0EBB-F42C-11B392445055}"/>
              </a:ext>
            </a:extLst>
          </p:cNvPr>
          <p:cNvSpPr/>
          <p:nvPr/>
        </p:nvSpPr>
        <p:spPr>
          <a:xfrm>
            <a:off x="1123509" y="317153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Authority Audit in Owned Media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78E811-E1ED-94D2-BD09-B2B2CB01B2EB}"/>
              </a:ext>
            </a:extLst>
          </p:cNvPr>
          <p:cNvSpPr/>
          <p:nvPr/>
        </p:nvSpPr>
        <p:spPr>
          <a:xfrm>
            <a:off x="6096000" y="315812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E872A7-F2E1-7653-D1C7-C4F3C4D0CFFC}"/>
              </a:ext>
            </a:extLst>
          </p:cNvPr>
          <p:cNvSpPr/>
          <p:nvPr/>
        </p:nvSpPr>
        <p:spPr>
          <a:xfrm>
            <a:off x="1154989" y="387452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1729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Key competitor comparison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F571C0-44F3-E35F-6156-16E17E819FC3}"/>
              </a:ext>
            </a:extLst>
          </p:cNvPr>
          <p:cNvSpPr/>
          <p:nvPr/>
        </p:nvSpPr>
        <p:spPr>
          <a:xfrm>
            <a:off x="6127480" y="386111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D477CD-1771-8702-488F-3F01AFEFE982}"/>
              </a:ext>
            </a:extLst>
          </p:cNvPr>
          <p:cNvSpPr/>
          <p:nvPr/>
        </p:nvSpPr>
        <p:spPr>
          <a:xfrm>
            <a:off x="1154989" y="5284558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4CADEAC-220B-AC49-BAF0-9102730B0934}"/>
              </a:ext>
            </a:extLst>
          </p:cNvPr>
          <p:cNvSpPr/>
          <p:nvPr/>
        </p:nvSpPr>
        <p:spPr>
          <a:xfrm>
            <a:off x="6127480" y="527115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4F91A16-46DE-55F4-FB5E-98E4274D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8CEBBE-4EF8-4724-88E3-DBA8D8CAC45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284E1-C305-8ADA-355E-946BC249A5A6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Io Ltd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97BD80-4BBC-87A4-E879-07B2A848CCB1}"/>
              </a:ext>
            </a:extLst>
          </p:cNvPr>
          <p:cNvSpPr/>
          <p:nvPr/>
        </p:nvSpPr>
        <p:spPr>
          <a:xfrm>
            <a:off x="2414844" y="525663"/>
            <a:ext cx="2456767" cy="31015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AIO Diagnostic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0349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9708"/>
            <a:ext cx="4635335" cy="5816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2" y="1759708"/>
            <a:ext cx="4635335" cy="5816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9C1FC6-DF0C-F828-9774-4EF590F36361}"/>
              </a:ext>
            </a:extLst>
          </p:cNvPr>
          <p:cNvSpPr/>
          <p:nvPr/>
        </p:nvSpPr>
        <p:spPr>
          <a:xfrm>
            <a:off x="1123509" y="3611580"/>
            <a:ext cx="4572391" cy="12111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Existing Content for Authority Signals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76DBAE-49C8-7D90-982D-AC682FA7DF41}"/>
              </a:ext>
            </a:extLst>
          </p:cNvPr>
          <p:cNvSpPr/>
          <p:nvPr/>
        </p:nvSpPr>
        <p:spPr>
          <a:xfrm>
            <a:off x="6096002" y="3592305"/>
            <a:ext cx="4635335" cy="121118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Core Business Description Document and options elements such as Key Takeaways, Answer-first page copy structure.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22ADFAA-5A90-FCE9-53DE-4F869584CEE7}"/>
              </a:ext>
            </a:extLst>
          </p:cNvPr>
          <p:cNvSpPr/>
          <p:nvPr/>
        </p:nvSpPr>
        <p:spPr>
          <a:xfrm>
            <a:off x="1123509" y="4930438"/>
            <a:ext cx="4572391" cy="99177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messages and sematic cluster phrases (used as guide for both PR content and web pages / socials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DC5CC5-F3AC-53F4-18AA-94FDECA63586}"/>
              </a:ext>
            </a:extLst>
          </p:cNvPr>
          <p:cNvSpPr/>
          <p:nvPr/>
        </p:nvSpPr>
        <p:spPr>
          <a:xfrm>
            <a:off x="6096000" y="4930438"/>
            <a:ext cx="4635337" cy="99177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messaging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and semantic phrase guide for owned and earned.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537595-46DE-1DB6-6D9C-76C6FAAFD73E}"/>
              </a:ext>
            </a:extLst>
          </p:cNvPr>
          <p:cNvSpPr/>
          <p:nvPr/>
        </p:nvSpPr>
        <p:spPr>
          <a:xfrm>
            <a:off x="1123509" y="2453199"/>
            <a:ext cx="4635334" cy="100716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Site structure audit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BB09B5-D4EA-9053-7056-EE41B96A4049}"/>
              </a:ext>
            </a:extLst>
          </p:cNvPr>
          <p:cNvSpPr/>
          <p:nvPr/>
        </p:nvSpPr>
        <p:spPr>
          <a:xfrm>
            <a:off x="6095996" y="2458190"/>
            <a:ext cx="4635337" cy="100716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Recommended plan and citation magnet options – i.e. sections that would enhance AI visibility and credibility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5C747D-7B97-828B-F9E0-BDCD544ABDEA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Fusion GEO Elements (those informing both Owned Channels and Earned Media e.g. PR)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7AB921-D13F-98A2-9BC1-5F46C99F2EAE}"/>
              </a:ext>
            </a:extLst>
          </p:cNvPr>
          <p:cNvSpPr/>
          <p:nvPr/>
        </p:nvSpPr>
        <p:spPr>
          <a:xfrm>
            <a:off x="1123509" y="606256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FAQ Page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170C96-04CB-C00F-AD9A-BA33AFE716D1}"/>
              </a:ext>
            </a:extLst>
          </p:cNvPr>
          <p:cNvSpPr/>
          <p:nvPr/>
        </p:nvSpPr>
        <p:spPr>
          <a:xfrm>
            <a:off x="6096000" y="6049161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FAQ Page Recommendations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D245-1018-AB90-D88B-0462E6A5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49536-5AF1-8FF9-4BF4-588CC3953010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24E89C-B768-21D0-FE25-2793A8E76BC3}"/>
              </a:ext>
            </a:extLst>
          </p:cNvPr>
          <p:cNvSpPr/>
          <p:nvPr/>
        </p:nvSpPr>
        <p:spPr>
          <a:xfrm>
            <a:off x="2397280" y="466263"/>
            <a:ext cx="2087791" cy="3343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Optimization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8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Fusion Technical Elements for Owned Channels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18D3EB-15D7-9E94-862F-29228C529FDF}"/>
              </a:ext>
            </a:extLst>
          </p:cNvPr>
          <p:cNvSpPr/>
          <p:nvPr/>
        </p:nvSpPr>
        <p:spPr>
          <a:xfrm>
            <a:off x="1123509" y="247321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 Organization Schema Markup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ADC3AE-2770-EA73-1478-93687B508655}"/>
              </a:ext>
            </a:extLst>
          </p:cNvPr>
          <p:cNvSpPr/>
          <p:nvPr/>
        </p:nvSpPr>
        <p:spPr>
          <a:xfrm>
            <a:off x="6096000" y="245980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Schema 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D43AA-501A-09C8-F02C-71D926A047D5}"/>
              </a:ext>
            </a:extLst>
          </p:cNvPr>
          <p:cNvSpPr/>
          <p:nvPr/>
        </p:nvSpPr>
        <p:spPr>
          <a:xfrm>
            <a:off x="1154989" y="457283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Source Truth Audit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6127480" y="455942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 to align key facts across Website and other owned channels.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6C7E1-4A5A-9620-D9A2-7F313C20546A}"/>
              </a:ext>
            </a:extLst>
          </p:cNvPr>
          <p:cNvSpPr/>
          <p:nvPr/>
        </p:nvSpPr>
        <p:spPr>
          <a:xfrm>
            <a:off x="1123509" y="317153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0F1729"/>
                </a:solidFill>
                <a:effectLst/>
                <a:latin typeface="Plus Jakarta Sans"/>
              </a:rPr>
              <a:t>Deploy FAQ Schema on Key Pages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07A6FE-1737-12F3-257F-617764C93A6F}"/>
              </a:ext>
            </a:extLst>
          </p:cNvPr>
          <p:cNvSpPr/>
          <p:nvPr/>
        </p:nvSpPr>
        <p:spPr>
          <a:xfrm>
            <a:off x="6096000" y="315812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FAQ Schema Recommendations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070B2-BDB4-716B-1812-CCC8F10F4194}"/>
              </a:ext>
            </a:extLst>
          </p:cNvPr>
          <p:cNvSpPr/>
          <p:nvPr/>
        </p:nvSpPr>
        <p:spPr>
          <a:xfrm>
            <a:off x="1154989" y="387452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>
                <a:solidFill>
                  <a:srgbClr val="0F1729"/>
                </a:solidFill>
                <a:effectLst/>
                <a:latin typeface="Plus Jakarta Sans"/>
              </a:rPr>
              <a:t>Configure robots.txt for AI Crawlers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9A87B2-E646-5B63-BC13-06BDBA575F1D}"/>
              </a:ext>
            </a:extLst>
          </p:cNvPr>
          <p:cNvSpPr/>
          <p:nvPr/>
        </p:nvSpPr>
        <p:spPr>
          <a:xfrm>
            <a:off x="6127480" y="386111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Review and update robots.txt to ensure AI crawler access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F378B1-E149-BBD9-1E8E-AF894C06137F}"/>
              </a:ext>
            </a:extLst>
          </p:cNvPr>
          <p:cNvSpPr/>
          <p:nvPr/>
        </p:nvSpPr>
        <p:spPr>
          <a:xfrm>
            <a:off x="1154989" y="5284558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H1-3 page tags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0EC97F-7D4F-B0D9-E61B-0CBD8DAEA8DE}"/>
              </a:ext>
            </a:extLst>
          </p:cNvPr>
          <p:cNvSpPr/>
          <p:nvPr/>
        </p:nvSpPr>
        <p:spPr>
          <a:xfrm>
            <a:off x="6127480" y="527115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Recommendations to align tags with optimized language.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ECAFD3C-ECC1-7780-BE47-4696F25FD1C7}"/>
              </a:ext>
            </a:extLst>
          </p:cNvPr>
          <p:cNvSpPr/>
          <p:nvPr/>
        </p:nvSpPr>
        <p:spPr>
          <a:xfrm rot="5400000">
            <a:off x="9052172" y="4334780"/>
            <a:ext cx="4095599" cy="3456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Aligned Master Optimised Content 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9DA5838-11BB-A5E9-4D91-D4DC43C9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5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18E50-7AD8-2E4B-76F6-E2A0DEA3FF04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77EF47B-78B3-DCA8-164F-A8757CB00681}"/>
              </a:ext>
            </a:extLst>
          </p:cNvPr>
          <p:cNvSpPr/>
          <p:nvPr/>
        </p:nvSpPr>
        <p:spPr>
          <a:xfrm>
            <a:off x="2397280" y="466263"/>
            <a:ext cx="2087791" cy="3343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Optimization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A613B35-6D25-E46D-4A97-A136A671152A}"/>
              </a:ext>
            </a:extLst>
          </p:cNvPr>
          <p:cNvSpPr/>
          <p:nvPr/>
        </p:nvSpPr>
        <p:spPr>
          <a:xfrm>
            <a:off x="3707657" y="6076787"/>
            <a:ext cx="4635335" cy="559126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Guidance and advice page</a:t>
            </a:r>
          </a:p>
        </p:txBody>
      </p:sp>
    </p:spTree>
    <p:extLst>
      <p:ext uri="{BB962C8B-B14F-4D97-AF65-F5344CB8AC3E}">
        <p14:creationId xmlns:p14="http://schemas.microsoft.com/office/powerpoint/2010/main" val="36938629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Fusion GEO Elements for Owned Channels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18D3EB-15D7-9E94-862F-29228C529FDF}"/>
              </a:ext>
            </a:extLst>
          </p:cNvPr>
          <p:cNvSpPr/>
          <p:nvPr/>
        </p:nvSpPr>
        <p:spPr>
          <a:xfrm>
            <a:off x="1123509" y="247321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Comparison and 'Best Of' Content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ADC3AE-2770-EA73-1478-93687B508655}"/>
              </a:ext>
            </a:extLst>
          </p:cNvPr>
          <p:cNvSpPr/>
          <p:nvPr/>
        </p:nvSpPr>
        <p:spPr>
          <a:xfrm>
            <a:off x="6096000" y="245980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Develop authoritative comparison content for your category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D43AA-501A-09C8-F02C-71D926A047D5}"/>
              </a:ext>
            </a:extLst>
          </p:cNvPr>
          <p:cNvSpPr/>
          <p:nvPr/>
        </p:nvSpPr>
        <p:spPr>
          <a:xfrm>
            <a:off x="1154989" y="457283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Definitive Statements to Key Pages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6127480" y="455942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 clear, quotable statements that AI can easily extract and cite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6C7E1-4A5A-9620-D9A2-7F313C20546A}"/>
              </a:ext>
            </a:extLst>
          </p:cNvPr>
          <p:cNvSpPr/>
          <p:nvPr/>
        </p:nvSpPr>
        <p:spPr>
          <a:xfrm>
            <a:off x="1123509" y="317153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 Statistic-Rich Resource Pages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07A6FE-1737-12F3-257F-617764C93A6F}"/>
              </a:ext>
            </a:extLst>
          </p:cNvPr>
          <p:cNvSpPr/>
          <p:nvPr/>
        </p:nvSpPr>
        <p:spPr>
          <a:xfrm>
            <a:off x="6096000" y="315812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pages with original or well-cited statistics that AI systems can reference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070B2-BDB4-716B-1812-CCC8F10F4194}"/>
              </a:ext>
            </a:extLst>
          </p:cNvPr>
          <p:cNvSpPr/>
          <p:nvPr/>
        </p:nvSpPr>
        <p:spPr>
          <a:xfrm>
            <a:off x="1154989" y="387452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Optimize Content for Conversational Queries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9A87B2-E646-5B63-BC13-06BDBA575F1D}"/>
              </a:ext>
            </a:extLst>
          </p:cNvPr>
          <p:cNvSpPr/>
          <p:nvPr/>
        </p:nvSpPr>
        <p:spPr>
          <a:xfrm>
            <a:off x="6127480" y="386111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Rewrite key pages to directly answer conversational questions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C4B077-3E92-EF23-A1AF-AC75EC03C787}"/>
              </a:ext>
            </a:extLst>
          </p:cNvPr>
          <p:cNvSpPr/>
          <p:nvPr/>
        </p:nvSpPr>
        <p:spPr>
          <a:xfrm>
            <a:off x="1123509" y="527432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 Statistic-Rich Resource Pages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663D76-219B-FEC8-C4F0-199FD3CD3F81}"/>
              </a:ext>
            </a:extLst>
          </p:cNvPr>
          <p:cNvSpPr/>
          <p:nvPr/>
        </p:nvSpPr>
        <p:spPr>
          <a:xfrm>
            <a:off x="6096000" y="526091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pages with original or well-cited statistics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ECAFD3C-ECC1-7780-BE47-4696F25FD1C7}"/>
              </a:ext>
            </a:extLst>
          </p:cNvPr>
          <p:cNvSpPr/>
          <p:nvPr/>
        </p:nvSpPr>
        <p:spPr>
          <a:xfrm rot="5400000">
            <a:off x="9052172" y="4334780"/>
            <a:ext cx="4095599" cy="3456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Aligned Master Optimised Content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8D53FE-4262-562B-8224-295A916BF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32EFE-1C6A-A76C-588C-ACF1263FDCE6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0357E7-3548-E0B4-FD1A-B26FA25EAEE9}"/>
              </a:ext>
            </a:extLst>
          </p:cNvPr>
          <p:cNvSpPr/>
          <p:nvPr/>
        </p:nvSpPr>
        <p:spPr>
          <a:xfrm>
            <a:off x="2397280" y="466263"/>
            <a:ext cx="2087791" cy="3343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Optimization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D5AD57-A415-5E9F-0B36-EC36639450BE}"/>
              </a:ext>
            </a:extLst>
          </p:cNvPr>
          <p:cNvSpPr/>
          <p:nvPr/>
        </p:nvSpPr>
        <p:spPr>
          <a:xfrm>
            <a:off x="3707657" y="6076787"/>
            <a:ext cx="4635335" cy="559126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Guidance and advice page</a:t>
            </a:r>
          </a:p>
        </p:txBody>
      </p:sp>
    </p:spTree>
    <p:extLst>
      <p:ext uri="{BB962C8B-B14F-4D97-AF65-F5344CB8AC3E}">
        <p14:creationId xmlns:p14="http://schemas.microsoft.com/office/powerpoint/2010/main" val="31893650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Fusion GEO Elements for Owned Channels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18D3EB-15D7-9E94-862F-29228C529FDF}"/>
              </a:ext>
            </a:extLst>
          </p:cNvPr>
          <p:cNvSpPr/>
          <p:nvPr/>
        </p:nvSpPr>
        <p:spPr>
          <a:xfrm>
            <a:off x="1123509" y="247321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Develop AI-Friendly Content Summaries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ADC3AE-2770-EA73-1478-93687B508655}"/>
              </a:ext>
            </a:extLst>
          </p:cNvPr>
          <p:cNvSpPr/>
          <p:nvPr/>
        </p:nvSpPr>
        <p:spPr>
          <a:xfrm>
            <a:off x="6096000" y="245980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 executive summaries with key takeaways at the top of long-form content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D43AA-501A-09C8-F02C-71D926A047D5}"/>
              </a:ext>
            </a:extLst>
          </p:cNvPr>
          <p:cNvSpPr/>
          <p:nvPr/>
        </p:nvSpPr>
        <p:spPr>
          <a:xfrm>
            <a:off x="1154989" y="457283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GEO Performance Across Platforms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6127480" y="455942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Monitor how your content appears LLMs noting citation patterns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A6C7E1-4A5A-9620-D9A2-7F313C20546A}"/>
              </a:ext>
            </a:extLst>
          </p:cNvPr>
          <p:cNvSpPr/>
          <p:nvPr/>
        </p:nvSpPr>
        <p:spPr>
          <a:xfrm>
            <a:off x="1123509" y="317153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Expert Roundup Content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07A6FE-1737-12F3-257F-617764C93A6F}"/>
              </a:ext>
            </a:extLst>
          </p:cNvPr>
          <p:cNvSpPr/>
          <p:nvPr/>
        </p:nvSpPr>
        <p:spPr>
          <a:xfrm>
            <a:off x="6096000" y="315812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 content featuring multiple expert perspectives on key industry topics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E070B2-BDB4-716B-1812-CCC8F10F4194}"/>
              </a:ext>
            </a:extLst>
          </p:cNvPr>
          <p:cNvSpPr/>
          <p:nvPr/>
        </p:nvSpPr>
        <p:spPr>
          <a:xfrm>
            <a:off x="1154989" y="387452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 Source Attribution Best Practices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9A87B2-E646-5B63-BC13-06BDBA575F1D}"/>
              </a:ext>
            </a:extLst>
          </p:cNvPr>
          <p:cNvSpPr/>
          <p:nvPr/>
        </p:nvSpPr>
        <p:spPr>
          <a:xfrm>
            <a:off x="6127480" y="386111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Ensure all claims are backed by citations, data sources, and expert credentials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ECAFD3C-ECC1-7780-BE47-4696F25FD1C7}"/>
              </a:ext>
            </a:extLst>
          </p:cNvPr>
          <p:cNvSpPr/>
          <p:nvPr/>
        </p:nvSpPr>
        <p:spPr>
          <a:xfrm rot="5400000">
            <a:off x="9052172" y="4334780"/>
            <a:ext cx="4095599" cy="3456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Aligned Master Optimised Content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C72D93-41E2-072C-C7E6-EB1E96D6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7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23A01-1002-FDDD-BB9F-8621FBD6A600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167116-9A62-CF6D-8B5D-C0312AF76D0C}"/>
              </a:ext>
            </a:extLst>
          </p:cNvPr>
          <p:cNvSpPr/>
          <p:nvPr/>
        </p:nvSpPr>
        <p:spPr>
          <a:xfrm>
            <a:off x="2397280" y="466263"/>
            <a:ext cx="2087791" cy="33434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Optimization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DE869E-F6B6-8D99-9160-3D68D1AC7CD9}"/>
              </a:ext>
            </a:extLst>
          </p:cNvPr>
          <p:cNvSpPr/>
          <p:nvPr/>
        </p:nvSpPr>
        <p:spPr>
          <a:xfrm>
            <a:off x="3707657" y="6076787"/>
            <a:ext cx="4635335" cy="559126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Guidance and advice page</a:t>
            </a:r>
          </a:p>
        </p:txBody>
      </p:sp>
    </p:spTree>
    <p:extLst>
      <p:ext uri="{BB962C8B-B14F-4D97-AF65-F5344CB8AC3E}">
        <p14:creationId xmlns:p14="http://schemas.microsoft.com/office/powerpoint/2010/main" val="155496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Resource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and output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1154989" y="246683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planned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arned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media activation scheduled by Day, Week, Month, Quarter, Year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0EC97F-7D4F-B0D9-E61B-0CBD8DAEA8DE}"/>
              </a:ext>
            </a:extLst>
          </p:cNvPr>
          <p:cNvSpPr/>
          <p:nvPr/>
        </p:nvSpPr>
        <p:spPr>
          <a:xfrm>
            <a:off x="6136147" y="4539710"/>
            <a:ext cx="4635335" cy="3896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 outputs by category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F89038-0B03-F504-4D6A-642C9C1AF94A}"/>
              </a:ext>
            </a:extLst>
          </p:cNvPr>
          <p:cNvSpPr/>
          <p:nvPr/>
        </p:nvSpPr>
        <p:spPr>
          <a:xfrm>
            <a:off x="6127479" y="248518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 Authority predicted based on outputs over selected time period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, by selected LLM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9D98A8-5CCC-5FA4-0ABB-8321719FE62E}"/>
              </a:ext>
            </a:extLst>
          </p:cNvPr>
          <p:cNvSpPr/>
          <p:nvPr/>
        </p:nvSpPr>
        <p:spPr>
          <a:xfrm>
            <a:off x="6136147" y="4995438"/>
            <a:ext cx="4635335" cy="3896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 outputs by message / purpose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4DDDA8-3B1C-B139-83F4-706906DF3F98}"/>
              </a:ext>
            </a:extLst>
          </p:cNvPr>
          <p:cNvSpPr/>
          <p:nvPr/>
        </p:nvSpPr>
        <p:spPr>
          <a:xfrm>
            <a:off x="6136147" y="5451166"/>
            <a:ext cx="4635335" cy="3896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Plot outputs by spokesperson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EE624F-3678-AF69-5654-33D08595E4CB}"/>
              </a:ext>
            </a:extLst>
          </p:cNvPr>
          <p:cNvSpPr/>
          <p:nvPr/>
        </p:nvSpPr>
        <p:spPr>
          <a:xfrm>
            <a:off x="6136147" y="3847972"/>
            <a:ext cx="4635335" cy="52384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Recommended outputs and timing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374897-C372-898D-4550-E66F9D30A9D1}"/>
              </a:ext>
            </a:extLst>
          </p:cNvPr>
          <p:cNvSpPr/>
          <p:nvPr/>
        </p:nvSpPr>
        <p:spPr>
          <a:xfrm>
            <a:off x="6127478" y="5906894"/>
            <a:ext cx="4635335" cy="581635"/>
          </a:xfrm>
          <a:prstGeom prst="roundRect">
            <a:avLst/>
          </a:prstGeom>
          <a:solidFill>
            <a:srgbClr val="9966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News Diary API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6CB34823-B1AE-76C2-0147-5E58DC3123DD}"/>
              </a:ext>
            </a:extLst>
          </p:cNvPr>
          <p:cNvSpPr/>
          <p:nvPr/>
        </p:nvSpPr>
        <p:spPr>
          <a:xfrm>
            <a:off x="1361852" y="5731598"/>
            <a:ext cx="4327747" cy="932225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and report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68C2CD-E5EA-2B7C-85A9-EA7028938B56}"/>
              </a:ext>
            </a:extLst>
          </p:cNvPr>
          <p:cNvSpPr/>
          <p:nvPr/>
        </p:nvSpPr>
        <p:spPr>
          <a:xfrm>
            <a:off x="6136147" y="3210338"/>
            <a:ext cx="4635335" cy="52384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m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plan scored for authority impact – options recommended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D59A85-92DD-38A9-BAA1-732BAC67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B6F23-103C-E906-1A32-27C229DE0D88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8A0C81-D438-9BB5-8C5A-3ED7979717D3}"/>
              </a:ext>
            </a:extLst>
          </p:cNvPr>
          <p:cNvSpPr/>
          <p:nvPr/>
        </p:nvSpPr>
        <p:spPr>
          <a:xfrm>
            <a:off x="2297341" y="517006"/>
            <a:ext cx="2456767" cy="2950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On-going Authority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DDD41C-2141-6483-CF1D-119E87ABB99C}"/>
              </a:ext>
            </a:extLst>
          </p:cNvPr>
          <p:cNvSpPr/>
          <p:nvPr/>
        </p:nvSpPr>
        <p:spPr>
          <a:xfrm>
            <a:off x="1154989" y="3088099"/>
            <a:ext cx="4635335" cy="196024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Including: PR activations (including planned media targets)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, original research, whitepapers, awards entries, owned events and webinars, third-party speaker platforms, business list entries, analyst entries, LinkedIn and blog platforms, industry sponsorships, other.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FD9CEE-F2A3-56F9-842D-F914999109A8}"/>
              </a:ext>
            </a:extLst>
          </p:cNvPr>
          <p:cNvSpPr txBox="1"/>
          <p:nvPr/>
        </p:nvSpPr>
        <p:spPr>
          <a:xfrm>
            <a:off x="2453821" y="1176964"/>
            <a:ext cx="64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 and AI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Score for marketing authority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356FAE7-2FBB-09A9-DF6E-B7B4B3115EAA}"/>
              </a:ext>
            </a:extLst>
          </p:cNvPr>
          <p:cNvSpPr/>
          <p:nvPr/>
        </p:nvSpPr>
        <p:spPr>
          <a:xfrm rot="5400000">
            <a:off x="9052172" y="4334780"/>
            <a:ext cx="4095599" cy="3456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Aligned Master Optimised Content  </a:t>
            </a:r>
          </a:p>
        </p:txBody>
      </p:sp>
    </p:spTree>
    <p:extLst>
      <p:ext uri="{BB962C8B-B14F-4D97-AF65-F5344CB8AC3E}">
        <p14:creationId xmlns:p14="http://schemas.microsoft.com/office/powerpoint/2010/main" val="131389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Resource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and output – content prep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18D3EB-15D7-9E94-862F-29228C529FDF}"/>
              </a:ext>
            </a:extLst>
          </p:cNvPr>
          <p:cNvSpPr/>
          <p:nvPr/>
        </p:nvSpPr>
        <p:spPr>
          <a:xfrm>
            <a:off x="1123508" y="2466830"/>
            <a:ext cx="4635335" cy="15243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Human created c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ontent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upload and stored – 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atgorized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type: Press releases, articles, case studies, whitepapers, owned event copy, speaker platform submissions, award submissions, list submissions etc.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ADC3AE-2770-EA73-1478-93687B508655}"/>
              </a:ext>
            </a:extLst>
          </p:cNvPr>
          <p:cNvSpPr/>
          <p:nvPr/>
        </p:nvSpPr>
        <p:spPr>
          <a:xfrm>
            <a:off x="6127479" y="250206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ready for optimization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D43AA-501A-09C8-F02C-71D926A047D5}"/>
              </a:ext>
            </a:extLst>
          </p:cNvPr>
          <p:cNvSpPr/>
          <p:nvPr/>
        </p:nvSpPr>
        <p:spPr>
          <a:xfrm>
            <a:off x="6096000" y="3143782"/>
            <a:ext cx="4635335" cy="5816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Message tagging – select key messages and phrases to optimise content with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1133027" y="405579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piece selected for optimization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0EC97F-7D4F-B0D9-E61B-0CBD8DAEA8DE}"/>
              </a:ext>
            </a:extLst>
          </p:cNvPr>
          <p:cNvSpPr/>
          <p:nvPr/>
        </p:nvSpPr>
        <p:spPr>
          <a:xfrm>
            <a:off x="6096000" y="3776236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 with spokesperson, message, purpose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663D76-219B-FEC8-C4F0-199FD3CD3F81}"/>
              </a:ext>
            </a:extLst>
          </p:cNvPr>
          <p:cNvSpPr/>
          <p:nvPr/>
        </p:nvSpPr>
        <p:spPr>
          <a:xfrm>
            <a:off x="6096000" y="4386181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Option to optimise for specific LLMs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E803DE-EC9A-54BA-9BE3-A5DC9F53E221}"/>
              </a:ext>
            </a:extLst>
          </p:cNvPr>
          <p:cNvSpPr/>
          <p:nvPr/>
        </p:nvSpPr>
        <p:spPr>
          <a:xfrm rot="5400000">
            <a:off x="9052172" y="4334780"/>
            <a:ext cx="4095599" cy="34566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Aligned Master Optimised Content 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0B5FF59-0ED3-4D27-E63D-ED1FA126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F04F5D-252B-DA63-A59E-33F98803FD91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26F496F-87A5-27D1-9140-5C30EBFFA860}"/>
              </a:ext>
            </a:extLst>
          </p:cNvPr>
          <p:cNvSpPr/>
          <p:nvPr/>
        </p:nvSpPr>
        <p:spPr>
          <a:xfrm>
            <a:off x="6127479" y="5977508"/>
            <a:ext cx="4523588" cy="84708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Content piece to Release Gateway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AE17CA8-E11F-A8B0-1217-E27932F77A2F}"/>
              </a:ext>
            </a:extLst>
          </p:cNvPr>
          <p:cNvSpPr/>
          <p:nvPr/>
        </p:nvSpPr>
        <p:spPr>
          <a:xfrm>
            <a:off x="1379457" y="5789250"/>
            <a:ext cx="4327747" cy="932225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and report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8346C83F-8360-F8E1-D00B-B670ABAB1BA9}"/>
              </a:ext>
            </a:extLst>
          </p:cNvPr>
          <p:cNvSpPr/>
          <p:nvPr/>
        </p:nvSpPr>
        <p:spPr>
          <a:xfrm>
            <a:off x="1308783" y="5227125"/>
            <a:ext cx="4327747" cy="932225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09212307-CF66-488C-715D-FE7C15E953FF}"/>
              </a:ext>
            </a:extLst>
          </p:cNvPr>
          <p:cNvSpPr/>
          <p:nvPr/>
        </p:nvSpPr>
        <p:spPr>
          <a:xfrm>
            <a:off x="1338958" y="4561670"/>
            <a:ext cx="4327747" cy="932225"/>
          </a:xfrm>
          <a:prstGeom prst="leftArrow">
            <a:avLst/>
          </a:prstGeom>
          <a:solidFill>
            <a:srgbClr val="E367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 and Visibility Diagnostic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9640E-0655-620F-B8C8-6567A6C309C6}"/>
              </a:ext>
            </a:extLst>
          </p:cNvPr>
          <p:cNvSpPr txBox="1"/>
          <p:nvPr/>
        </p:nvSpPr>
        <p:spPr>
          <a:xfrm>
            <a:off x="2471426" y="1122069"/>
            <a:ext cx="64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Earned content management and optimization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51CB0E-8ECF-A659-96E8-FAAAC5CEA099}"/>
              </a:ext>
            </a:extLst>
          </p:cNvPr>
          <p:cNvSpPr/>
          <p:nvPr/>
        </p:nvSpPr>
        <p:spPr>
          <a:xfrm>
            <a:off x="6127478" y="5204901"/>
            <a:ext cx="4635335" cy="581635"/>
          </a:xfrm>
          <a:prstGeom prst="roundRect">
            <a:avLst/>
          </a:prstGeom>
          <a:solidFill>
            <a:srgbClr val="CC99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>
                <a:solidFill>
                  <a:prstClr val="black"/>
                </a:solidFill>
                <a:latin typeface="Calibri" panose="020F0502020204030204"/>
              </a:rPr>
              <a:t>Brieing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 Media Relations Agent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5E253F5-EA7D-3B79-E003-F2259B9C3E21}"/>
              </a:ext>
            </a:extLst>
          </p:cNvPr>
          <p:cNvSpPr/>
          <p:nvPr/>
        </p:nvSpPr>
        <p:spPr>
          <a:xfrm>
            <a:off x="2297341" y="517006"/>
            <a:ext cx="2456767" cy="2950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On-going Authority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662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AEF515-0D6F-E9C5-A041-9C0C82050367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0AC3C-CE39-6A35-3F8C-63E772E3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26CF84-5BD9-B957-77E6-0E5177AF7A6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Resource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7AFE8B-5194-BBD5-1CF9-93CA8E25194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Action and output – release channels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1468F9-4E5E-0B7E-943E-A413E339C8FA}"/>
              </a:ext>
            </a:extLst>
          </p:cNvPr>
          <p:cNvSpPr/>
          <p:nvPr/>
        </p:nvSpPr>
        <p:spPr>
          <a:xfrm>
            <a:off x="1154989" y="246683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 Gateway – scheduled and manual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0EC97F-7D4F-B0D9-E61B-0CBD8DAEA8DE}"/>
              </a:ext>
            </a:extLst>
          </p:cNvPr>
          <p:cNvSpPr/>
          <p:nvPr/>
        </p:nvSpPr>
        <p:spPr>
          <a:xfrm>
            <a:off x="6127479" y="3149437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Website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F89038-0B03-F504-4D6A-642C9C1AF94A}"/>
              </a:ext>
            </a:extLst>
          </p:cNvPr>
          <p:cNvSpPr/>
          <p:nvPr/>
        </p:nvSpPr>
        <p:spPr>
          <a:xfrm>
            <a:off x="6127479" y="248518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Wires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9D98A8-5CCC-5FA4-0ABB-8321719FE62E}"/>
              </a:ext>
            </a:extLst>
          </p:cNvPr>
          <p:cNvSpPr/>
          <p:nvPr/>
        </p:nvSpPr>
        <p:spPr>
          <a:xfrm>
            <a:off x="6127478" y="3828921"/>
            <a:ext cx="4635335" cy="5816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Social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4DDDA8-3B1C-B139-83F4-706906DF3F98}"/>
              </a:ext>
            </a:extLst>
          </p:cNvPr>
          <p:cNvSpPr/>
          <p:nvPr/>
        </p:nvSpPr>
        <p:spPr>
          <a:xfrm>
            <a:off x="6127478" y="5204901"/>
            <a:ext cx="4635335" cy="581635"/>
          </a:xfrm>
          <a:prstGeom prst="roundRect">
            <a:avLst/>
          </a:prstGeom>
          <a:solidFill>
            <a:srgbClr val="CC99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Media Relations Agent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EE624F-3678-AF69-5654-33D08595E4CB}"/>
              </a:ext>
            </a:extLst>
          </p:cNvPr>
          <p:cNvSpPr/>
          <p:nvPr/>
        </p:nvSpPr>
        <p:spPr>
          <a:xfrm>
            <a:off x="6127478" y="4525418"/>
            <a:ext cx="4635335" cy="58163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Download for manual email release / submission to media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374897-C372-898D-4550-E66F9D30A9D1}"/>
              </a:ext>
            </a:extLst>
          </p:cNvPr>
          <p:cNvSpPr/>
          <p:nvPr/>
        </p:nvSpPr>
        <p:spPr>
          <a:xfrm>
            <a:off x="6127478" y="5906894"/>
            <a:ext cx="4635335" cy="581635"/>
          </a:xfrm>
          <a:prstGeom prst="roundRect">
            <a:avLst/>
          </a:prstGeom>
          <a:solidFill>
            <a:srgbClr val="9966FF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Media Relations Platform API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A113B5C-B116-E9E9-AFE2-3554D80F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CEBBE-4EF8-4724-88E3-DBA8D8CAC451}" type="slidenum">
              <a:rPr lang="en-GB" smtClean="0"/>
              <a:t>10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E4D87-EC1E-2F56-94F5-51F8C995B5E2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Io Ltd 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9D8EEC36-5981-D19C-1C9A-22346B3691C0}"/>
              </a:ext>
            </a:extLst>
          </p:cNvPr>
          <p:cNvSpPr/>
          <p:nvPr/>
        </p:nvSpPr>
        <p:spPr>
          <a:xfrm>
            <a:off x="1379457" y="5789250"/>
            <a:ext cx="4327747" cy="932225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and report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3DEBF200-E65D-8240-4DDF-391872D04A7A}"/>
              </a:ext>
            </a:extLst>
          </p:cNvPr>
          <p:cNvSpPr/>
          <p:nvPr/>
        </p:nvSpPr>
        <p:spPr>
          <a:xfrm>
            <a:off x="1308783" y="5227125"/>
            <a:ext cx="4327747" cy="932225"/>
          </a:xfrm>
          <a:prstGeom prst="lef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35E0F22-6BC6-94C3-ACF2-7737EAF54B53}"/>
              </a:ext>
            </a:extLst>
          </p:cNvPr>
          <p:cNvSpPr/>
          <p:nvPr/>
        </p:nvSpPr>
        <p:spPr>
          <a:xfrm>
            <a:off x="1338958" y="4561670"/>
            <a:ext cx="4327747" cy="932225"/>
          </a:xfrm>
          <a:prstGeom prst="leftArrow">
            <a:avLst/>
          </a:prstGeom>
          <a:solidFill>
            <a:srgbClr val="E367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Authority and Visibility Diagnostic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131FDF-04A7-A6C6-032A-0C742643F4CD}"/>
              </a:ext>
            </a:extLst>
          </p:cNvPr>
          <p:cNvSpPr txBox="1"/>
          <p:nvPr/>
        </p:nvSpPr>
        <p:spPr>
          <a:xfrm>
            <a:off x="2691646" y="1142951"/>
            <a:ext cx="6471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Earned content management and optimization</a:t>
            </a: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A2CF2264-22A3-015E-1705-09BD12E1F9CA}"/>
              </a:ext>
            </a:extLst>
          </p:cNvPr>
          <p:cNvSpPr/>
          <p:nvPr/>
        </p:nvSpPr>
        <p:spPr>
          <a:xfrm>
            <a:off x="1277302" y="3962172"/>
            <a:ext cx="4327747" cy="932225"/>
          </a:xfrm>
          <a:prstGeom prst="left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archive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949091-B029-96F4-7B52-5FA318C623DB}"/>
              </a:ext>
            </a:extLst>
          </p:cNvPr>
          <p:cNvSpPr/>
          <p:nvPr/>
        </p:nvSpPr>
        <p:spPr>
          <a:xfrm>
            <a:off x="2297341" y="517006"/>
            <a:ext cx="2456767" cy="295037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F1729"/>
                </a:solidFill>
                <a:latin typeface="Plus Jakarta Sans"/>
              </a:rPr>
              <a:t>On-going Authority Tools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61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F51F-1307-11F5-D489-3CC70A06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302AED-777D-FBC1-0FDD-B437E01EE811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and Report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934C6C-E030-A3DA-4D0A-F2F067447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037553-9EE7-A103-9FA3-5F0957B863FE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Options / actions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960F9D-486B-0ECA-055B-EE49588342DB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 output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FE67DB-5128-25AB-E4A7-A91A503DD22F}"/>
              </a:ext>
            </a:extLst>
          </p:cNvPr>
          <p:cNvSpPr/>
          <p:nvPr/>
        </p:nvSpPr>
        <p:spPr>
          <a:xfrm>
            <a:off x="1123509" y="2473216"/>
            <a:ext cx="4635335" cy="194702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Choose report period, results by: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 activations (including planned media targets), original research, whitepapers, awards entries, owned events and webinars, third-party speaker platforms, business list entries, analyst entries, LinkedIn and blog platforms, industry sponsorships, other.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321007-15CA-DC71-2B68-432DD19A2164}"/>
              </a:ext>
            </a:extLst>
          </p:cNvPr>
          <p:cNvSpPr/>
          <p:nvPr/>
        </p:nvSpPr>
        <p:spPr>
          <a:xfrm>
            <a:off x="6127479" y="5588646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lead gen and growth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CCCC43-83F4-E9C3-1796-E1522DB9403B}"/>
              </a:ext>
            </a:extLst>
          </p:cNvPr>
          <p:cNvSpPr/>
          <p:nvPr/>
        </p:nvSpPr>
        <p:spPr>
          <a:xfrm>
            <a:off x="6095999" y="246078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overall GEO Authority Progress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 all LLMs and different LLMs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0F186F-7BE3-2C66-1A17-220581189D53}"/>
              </a:ext>
            </a:extLst>
          </p:cNvPr>
          <p:cNvSpPr/>
          <p:nvPr/>
        </p:nvSpPr>
        <p:spPr>
          <a:xfrm>
            <a:off x="6127478" y="616234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channel costs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30CDD0-073A-43D4-9453-067643AADFCD}"/>
              </a:ext>
            </a:extLst>
          </p:cNvPr>
          <p:cNvSpPr/>
          <p:nvPr/>
        </p:nvSpPr>
        <p:spPr>
          <a:xfrm>
            <a:off x="6095999" y="371896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audience reach by media and event data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C81266-4511-D845-B0BF-48506BDDB8D1}"/>
              </a:ext>
            </a:extLst>
          </p:cNvPr>
          <p:cNvSpPr/>
          <p:nvPr/>
        </p:nvSpPr>
        <p:spPr>
          <a:xfrm>
            <a:off x="1123508" y="4549463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budget / costs and time period covered by channel / project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4C2232-F06D-AA76-0AFB-A86A58B1201C}"/>
              </a:ext>
            </a:extLst>
          </p:cNvPr>
          <p:cNvSpPr/>
          <p:nvPr/>
        </p:nvSpPr>
        <p:spPr>
          <a:xfrm>
            <a:off x="6127480" y="4342702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by content tags – spokesperson, message, purpose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C1E1C3-FB00-66D2-1758-ACEFCE6A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8CEBBE-4EF8-4724-88E3-DBA8D8CAC45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AA134-EFE7-5E6E-D4CD-A3F00958794B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Io Ltd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173E59-3AA8-AC68-D97E-E6091FF4C3C2}"/>
              </a:ext>
            </a:extLst>
          </p:cNvPr>
          <p:cNvSpPr/>
          <p:nvPr/>
        </p:nvSpPr>
        <p:spPr>
          <a:xfrm>
            <a:off x="1123507" y="5237815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leads generated by time period and source.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AEC974-C1EE-4854-B6C5-72D8700891F5}"/>
              </a:ext>
            </a:extLst>
          </p:cNvPr>
          <p:cNvSpPr/>
          <p:nvPr/>
        </p:nvSpPr>
        <p:spPr>
          <a:xfrm>
            <a:off x="1123506" y="589557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conversions and income generated by time period and source.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74E4EC-8229-B3D3-BE81-4719E865E5C0}"/>
              </a:ext>
            </a:extLst>
          </p:cNvPr>
          <p:cNvSpPr/>
          <p:nvPr/>
        </p:nvSpPr>
        <p:spPr>
          <a:xfrm>
            <a:off x="6127479" y="496567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social channel performance by interactions and impressions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E3E8FF-8701-BF3A-AEB3-19EC872EF07E}"/>
              </a:ext>
            </a:extLst>
          </p:cNvPr>
          <p:cNvSpPr/>
          <p:nvPr/>
        </p:nvSpPr>
        <p:spPr>
          <a:xfrm>
            <a:off x="6095998" y="309104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 volume and type of activation concluded over time.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A9FED0-0918-2CC5-C818-6F6D062CB584}"/>
              </a:ext>
            </a:extLst>
          </p:cNvPr>
          <p:cNvSpPr/>
          <p:nvPr/>
        </p:nvSpPr>
        <p:spPr>
          <a:xfrm>
            <a:off x="2296876" y="440572"/>
            <a:ext cx="2775868" cy="4248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Secondary section</a:t>
            </a:r>
          </a:p>
        </p:txBody>
      </p:sp>
    </p:spTree>
    <p:extLst>
      <p:ext uri="{BB962C8B-B14F-4D97-AF65-F5344CB8AC3E}">
        <p14:creationId xmlns:p14="http://schemas.microsoft.com/office/powerpoint/2010/main" val="118459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4BB29-7115-F788-ED50-9ACDDE98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114A7B-CFEB-19D1-5C58-A49CA6DE2834}"/>
              </a:ext>
            </a:extLst>
          </p:cNvPr>
          <p:cNvSpPr/>
          <p:nvPr/>
        </p:nvSpPr>
        <p:spPr>
          <a:xfrm>
            <a:off x="1123511" y="1037957"/>
            <a:ext cx="9607826" cy="5816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Archive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86F829-1A9A-6144-9544-6809E78B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8950" y="-256669"/>
            <a:ext cx="4221607" cy="129462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289A8B-86C4-F2D9-5780-1406CC6350B7}"/>
              </a:ext>
            </a:extLst>
          </p:cNvPr>
          <p:cNvSpPr/>
          <p:nvPr/>
        </p:nvSpPr>
        <p:spPr>
          <a:xfrm>
            <a:off x="1123509" y="1752394"/>
            <a:ext cx="4635335" cy="58163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FF8A24-5757-B8E6-C64F-4E64718EE0C9}"/>
              </a:ext>
            </a:extLst>
          </p:cNvPr>
          <p:cNvSpPr/>
          <p:nvPr/>
        </p:nvSpPr>
        <p:spPr>
          <a:xfrm>
            <a:off x="6096000" y="1750948"/>
            <a:ext cx="4635335" cy="5816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6B6DFB-9A70-E8C3-1E98-2BED8A6829A7}"/>
              </a:ext>
            </a:extLst>
          </p:cNvPr>
          <p:cNvSpPr/>
          <p:nvPr/>
        </p:nvSpPr>
        <p:spPr>
          <a:xfrm>
            <a:off x="1123509" y="2473216"/>
            <a:ext cx="4635335" cy="194702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 of all: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 activations (tagging), original research, whitepapers, awards entries, owned events and webinars, third-party speaker platforms, business list entries, analyst entries, LinkedIn and blog platforms, industry sponsorships, other.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B91D8C-556C-9AB5-D836-18D397ECA42E}"/>
              </a:ext>
            </a:extLst>
          </p:cNvPr>
          <p:cNvSpPr/>
          <p:nvPr/>
        </p:nvSpPr>
        <p:spPr>
          <a:xfrm>
            <a:off x="6095999" y="246078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by type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82A93B-1A1A-10E3-C6F2-289E0ABF7FD3}"/>
              </a:ext>
            </a:extLst>
          </p:cNvPr>
          <p:cNvSpPr/>
          <p:nvPr/>
        </p:nvSpPr>
        <p:spPr>
          <a:xfrm>
            <a:off x="6095999" y="3718964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 tags – spokesperson, message, purpose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037EA3B-A6F6-4748-1409-F7867519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8CEBBE-4EF8-4724-88E3-DBA8D8CAC45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45C82-2CDD-6F58-E1D2-C6408908B7CB}"/>
              </a:ext>
            </a:extLst>
          </p:cNvPr>
          <p:cNvSpPr txBox="1"/>
          <p:nvPr/>
        </p:nvSpPr>
        <p:spPr>
          <a:xfrm>
            <a:off x="149477" y="6454705"/>
            <a:ext cx="2991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©Simpatico PR Ltd. ©</a:t>
            </a: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Bluhalo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Io Ltd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1816EB-A608-2FE9-4C1A-D42DFC74AAEF}"/>
              </a:ext>
            </a:extLst>
          </p:cNvPr>
          <p:cNvSpPr/>
          <p:nvPr/>
        </p:nvSpPr>
        <p:spPr>
          <a:xfrm>
            <a:off x="6095997" y="4381530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by AI Authority score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8E94BF-767A-6072-D78A-33DB54E46F3C}"/>
              </a:ext>
            </a:extLst>
          </p:cNvPr>
          <p:cNvSpPr/>
          <p:nvPr/>
        </p:nvSpPr>
        <p:spPr>
          <a:xfrm>
            <a:off x="6095998" y="3091049"/>
            <a:ext cx="4635335" cy="55912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Search by time period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D58489-C07E-8529-8BD5-0E86935ED48F}"/>
              </a:ext>
            </a:extLst>
          </p:cNvPr>
          <p:cNvSpPr/>
          <p:nvPr/>
        </p:nvSpPr>
        <p:spPr>
          <a:xfrm>
            <a:off x="2296876" y="440572"/>
            <a:ext cx="2775868" cy="42487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Secondary section</a:t>
            </a:r>
          </a:p>
        </p:txBody>
      </p:sp>
    </p:spTree>
    <p:extLst>
      <p:ext uri="{BB962C8B-B14F-4D97-AF65-F5344CB8AC3E}">
        <p14:creationId xmlns:p14="http://schemas.microsoft.com/office/powerpoint/2010/main" val="15742647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1042</Words>
  <Application>Microsoft Office PowerPoint</Application>
  <PresentationFormat>Widescreen</PresentationFormat>
  <Paragraphs>175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Plus Jakarta Sans</vt:lpstr>
      <vt:lpstr>Office Theme</vt:lpstr>
      <vt:lpstr>AIO Fusion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Fusion </dc:title>
  <dc:creator>Patrick Barrett</dc:creator>
  <cp:lastModifiedBy>Patrick Barrett</cp:lastModifiedBy>
  <cp:revision>27</cp:revision>
  <cp:lastPrinted>2026-02-26T17:40:32Z</cp:lastPrinted>
  <dcterms:created xsi:type="dcterms:W3CDTF">2026-02-26T15:10:50Z</dcterms:created>
  <dcterms:modified xsi:type="dcterms:W3CDTF">2026-03-13T17:18:16Z</dcterms:modified>
</cp:coreProperties>
</file>